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68" r:id="rId6"/>
    <p:sldId id="259" r:id="rId7"/>
    <p:sldId id="266" r:id="rId8"/>
    <p:sldId id="260" r:id="rId9"/>
    <p:sldId id="261" r:id="rId10"/>
    <p:sldId id="262" r:id="rId11"/>
    <p:sldId id="269" r:id="rId12"/>
  </p:sldIdLst>
  <p:sldSz cx="18288000" cy="10287000"/>
  <p:notesSz cx="6858000" cy="9144000"/>
  <p:embeddedFontLst>
    <p:embeddedFont>
      <p:font typeface="Proxima Nova" pitchFamily="2" charset="77"/>
      <p:regular r:id="rId14"/>
      <p:bold r:id="rId15"/>
      <p:italic r:id="rId16"/>
      <p:boldItalic r:id="rId17"/>
    </p:embeddedFont>
    <p:embeddedFont>
      <p:font typeface="Proxima Nova Bold" panose="02000506030000020004"/>
      <p:regular r:id="rId14"/>
      <p:bold r:id="rId14"/>
      <p:italic r:id="rId18"/>
      <p:boldItalic r:id="rId19"/>
    </p:embeddedFont>
    <p:embeddedFont>
      <p:font typeface="Proxima Nova Heavy" panose="02000506030000020004"/>
      <p:regular r:id="rId14"/>
      <p:bold r:id="rId20"/>
      <p:italic r:id="rId21"/>
    </p:embeddedFont>
    <p:embeddedFont>
      <p:font typeface="Raleway" pitchFamily="2" charset="77"/>
      <p:regular r:id="rId22"/>
      <p:bold r:id="rId23"/>
      <p:italic r:id="rId24"/>
      <p:boldItalic r:id="rId25"/>
    </p:embeddedFont>
    <p:embeddedFont>
      <p:font typeface="Raleway Bold"/>
      <p:regular r:id="rId20"/>
      <p:bold r:id="rId20"/>
      <p: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690" autoAdjust="0"/>
    <p:restoredTop sz="58844" autoAdjust="0"/>
  </p:normalViewPr>
  <p:slideViewPr>
    <p:cSldViewPr>
      <p:cViewPr varScale="1">
        <p:scale>
          <a:sx n="48" d="100"/>
          <a:sy n="48" d="100"/>
        </p:scale>
        <p:origin x="169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70" d="100"/>
        <a:sy n="17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Antes de avançar para a análise,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aplicei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uma camada de limpeza ao documento .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onde faço o</a:t>
            </a: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LER LIMPEZA</a:t>
            </a: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passo é crucial porque, sendo estas marcas muito frequentes no ficheiro “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Harry.txt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o modelo de n-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grams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poderia identificá-las erradamente como sendo importantes para o tema, quando na verdade são apenas lixo que queremos filtrar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ECA1B-38ED-9FD0-B570-129FDF13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A6610D-DE16-701E-292D-590D9685CA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00AF9-61D4-938E-ED1D-4B230511F67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FE20450-F74F-E352-225C-DBA653901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E48FE42-A97B-952D-87E8-74CB247EE3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Nesta parte do código, configurei o script para simular um navegador real através de um </a:t>
            </a:r>
            <a:r>
              <a:rPr lang="pt-P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User-Agent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evitando o bloqueio automáticos de segurança da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wikipedia</a:t>
            </a:r>
            <a:endParaRPr lang="pt-P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Implementei também o </a:t>
            </a:r>
            <a:r>
              <a:rPr lang="pt-P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timeout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para evitar que o programa bloqueie em sites lentos, e a verificação de </a:t>
            </a:r>
            <a:r>
              <a:rPr lang="pt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garante que só avançamos para a análise de n-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grams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o conteúdo for descarregado corretamente e sem erros de rede.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2CC66-E5C6-A9EE-89B6-92F4F5709A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FFB24-6260-4C4E-B589-26C4CE117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12187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EF6C-FCE9-80B6-57A3-F9A232AD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0540D2-3819-E101-D246-A92DD0AF42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63FE7-5AF1-30FE-EF41-8DF05A261C9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06195B2-F8E1-563C-82F9-510DF2EF9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303D1B4-C831-7F83-2D6A-61312C919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Já para o HTML de um site como o do Wikipédia tem muito 'lixo' — como menus, scripts e cabeçalhos</a:t>
            </a: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usei a biblioteca </a:t>
            </a:r>
            <a:r>
              <a:rPr lang="pt-P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BeautifulSoup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que identifica essas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tags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irrelevantes e usando o comando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decompose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apaga as mesmas. </a:t>
            </a:r>
          </a:p>
          <a:p>
            <a:endParaRPr lang="pt-P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podem ver no exemplo do slide, isto permite-nos passar de um código cheio de coisas para um texto limpo, que é o que realmente interessa para o nosso modelo de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scoring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para a análise linguística posteriormente.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FDEF3-3CE1-27D2-7FE4-934D5688D6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2B626-4505-7135-5656-44AA9159F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1342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Nesta fase, utilizei o </a:t>
            </a:r>
            <a:r>
              <a:rPr lang="pt-P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Matcher</a:t>
            </a:r>
            <a:r>
              <a:rPr lang="pt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pt-P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spaCy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para</a:t>
            </a:r>
          </a:p>
          <a:p>
            <a:endParaRPr lang="pt-P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Definir então três padrões:</a:t>
            </a: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de </a:t>
            </a:r>
            <a:r>
              <a:rPr lang="pt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Ação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para capturar sujeitos e as suas respetivas atividades.</a:t>
            </a: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de </a:t>
            </a:r>
            <a:r>
              <a:rPr lang="pt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Objeto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para identificar interações diretas com substantivos.</a:t>
            </a: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o de </a:t>
            </a:r>
            <a:r>
              <a:rPr lang="pt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Movimento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isola deslocações e destinos.</a:t>
            </a:r>
          </a:p>
          <a:p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A607A-D67C-3821-E6F7-A6CB726EF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E3E395-F916-72B6-3DA7-16589CA6CA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01EFF-2452-A18D-591F-1C50DAF6A1A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AC999EE-6F48-14B1-6946-66012146A0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6F79454-3359-1DC3-D706-92D3456FA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Neste slide, mostro como transformei a teoria dos n-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grams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num algoritmo de seleção. 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45D2D-DC50-B394-56E2-4058A87C16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174C6-1695-4345-A5C6-84EC5ADA2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66412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Nesta fase, recorri à análise de </a:t>
            </a:r>
            <a:r>
              <a:rPr lang="pt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NER 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spaCy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 script percorre o texto e isola automaticamente nomes de pessoas, locais e organizações. Como podem ver no código, extraí o texto e a categoria de cada entidade, guardando-os em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tuplos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Estes dados são depois listados no corpo do artigo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LaTeX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permitindo uma leitura rápida dos elementos principais de cada fonte, seja ela o livro de Harry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Potter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 uma página da Wikipédia.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7B6F4-A3E4-C173-BB9E-CDE609A79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4AA9D2-4324-B32D-A3F1-CCFA381E02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5EA40F-7C68-0ECA-A107-64AD4D3A6FF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CC01B81-1E4E-61DF-225D-AEDF7DFD4B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3D183FC-C28A-9A5B-7542-89D3AB9D2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BE6DA-DA25-5E6B-D5C7-0EA59CEC7A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3A47E-46D6-9ED5-EA0E-78A01B3E0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09832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098">
                <a:alpha val="100000"/>
              </a:srgbClr>
            </a:gs>
            <a:gs pos="100000">
              <a:srgbClr val="B8625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258930">
            <a:off x="-3499934" y="157096"/>
            <a:ext cx="6164199" cy="6094852"/>
          </a:xfrm>
          <a:custGeom>
            <a:avLst/>
            <a:gdLst/>
            <a:ahLst/>
            <a:cxnLst/>
            <a:rect l="l" t="t" r="r" b="b"/>
            <a:pathLst>
              <a:path w="6164199" h="6094852">
                <a:moveTo>
                  <a:pt x="0" y="0"/>
                </a:moveTo>
                <a:lnTo>
                  <a:pt x="6164199" y="0"/>
                </a:lnTo>
                <a:lnTo>
                  <a:pt x="6164199" y="6094852"/>
                </a:lnTo>
                <a:lnTo>
                  <a:pt x="0" y="60948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2587274" y="-734700"/>
            <a:ext cx="1660777" cy="1469400"/>
            <a:chOff x="0" y="0"/>
            <a:chExt cx="437406" cy="3870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32592" y="-734700"/>
            <a:ext cx="489701" cy="1469400"/>
            <a:chOff x="0" y="0"/>
            <a:chExt cx="128975" cy="387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632196" y="2242489"/>
            <a:ext cx="12545731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3"/>
              </a:lnSpc>
            </a:pPr>
            <a:r>
              <a:rPr lang="en-US" sz="5898" b="1" dirty="0" err="1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Trabalho</a:t>
            </a:r>
            <a:r>
              <a:rPr lang="en-US" sz="5898" b="1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</a:t>
            </a:r>
            <a:r>
              <a:rPr lang="en-US" sz="5898" b="1" dirty="0" err="1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Prático</a:t>
            </a:r>
            <a:r>
              <a:rPr lang="en-US" sz="5898" b="1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32196" y="4545367"/>
            <a:ext cx="12635575" cy="117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400" b="1" dirty="0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Scripting no </a:t>
            </a:r>
            <a:r>
              <a:rPr lang="en-US" sz="4400" b="1" dirty="0" err="1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Processamento</a:t>
            </a:r>
            <a:r>
              <a:rPr lang="en-US" sz="4400" b="1" dirty="0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de </a:t>
            </a:r>
            <a:r>
              <a:rPr lang="en-US" sz="4400" b="1" dirty="0" err="1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Linguagem</a:t>
            </a:r>
            <a:r>
              <a:rPr lang="en-US" sz="4400" b="1" dirty="0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Natural</a:t>
            </a:r>
          </a:p>
        </p:txBody>
      </p:sp>
      <p:sp>
        <p:nvSpPr>
          <p:cNvPr id="11" name="Freeform 11"/>
          <p:cNvSpPr/>
          <p:nvPr/>
        </p:nvSpPr>
        <p:spPr>
          <a:xfrm rot="-3500788">
            <a:off x="9319174" y="2590520"/>
            <a:ext cx="11582610" cy="11452305"/>
          </a:xfrm>
          <a:custGeom>
            <a:avLst/>
            <a:gdLst/>
            <a:ahLst/>
            <a:cxnLst/>
            <a:rect l="l" t="t" r="r" b="b"/>
            <a:pathLst>
              <a:path w="11582610" h="11452305">
                <a:moveTo>
                  <a:pt x="0" y="0"/>
                </a:moveTo>
                <a:lnTo>
                  <a:pt x="11582610" y="0"/>
                </a:lnTo>
                <a:lnTo>
                  <a:pt x="11582610" y="11452306"/>
                </a:lnTo>
                <a:lnTo>
                  <a:pt x="0" y="11452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2" name="Freeform 12"/>
          <p:cNvSpPr/>
          <p:nvPr/>
        </p:nvSpPr>
        <p:spPr>
          <a:xfrm>
            <a:off x="15373045" y="620400"/>
            <a:ext cx="1886255" cy="1710204"/>
          </a:xfrm>
          <a:custGeom>
            <a:avLst/>
            <a:gdLst/>
            <a:ahLst/>
            <a:cxnLst/>
            <a:rect l="l" t="t" r="r" b="b"/>
            <a:pathLst>
              <a:path w="1886255" h="1710204">
                <a:moveTo>
                  <a:pt x="0" y="0"/>
                </a:moveTo>
                <a:lnTo>
                  <a:pt x="1886255" y="0"/>
                </a:lnTo>
                <a:lnTo>
                  <a:pt x="1886255" y="1710204"/>
                </a:lnTo>
                <a:lnTo>
                  <a:pt x="0" y="17102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TextBox 13"/>
          <p:cNvSpPr txBox="1"/>
          <p:nvPr/>
        </p:nvSpPr>
        <p:spPr>
          <a:xfrm>
            <a:off x="2587274" y="6397318"/>
            <a:ext cx="5762112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 b="1" dirty="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Gonçalo Magalhães</a:t>
            </a:r>
            <a:r>
              <a:rPr lang="en-US" sz="3364" b="1" dirty="0">
                <a:solidFill>
                  <a:srgbClr val="006DA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3364" dirty="0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PG61524</a:t>
            </a:r>
          </a:p>
          <a:p>
            <a:pPr algn="l">
              <a:lnSpc>
                <a:spcPts val="3532"/>
              </a:lnSpc>
            </a:pPr>
            <a:endParaRPr lang="en-US" sz="3364" dirty="0">
              <a:solidFill>
                <a:srgbClr val="D9D9D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587274" y="8169387"/>
            <a:ext cx="4773524" cy="332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464" dirty="0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24 de </a:t>
            </a:r>
            <a:r>
              <a:rPr lang="en-US" sz="2464" dirty="0" err="1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março</a:t>
            </a:r>
            <a:r>
              <a:rPr lang="en-US" sz="2464" dirty="0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098">
                <a:alpha val="100000"/>
              </a:srgbClr>
            </a:gs>
            <a:gs pos="100000">
              <a:srgbClr val="B8625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9509" y="9681733"/>
            <a:ext cx="1660777" cy="1469400"/>
            <a:chOff x="0" y="0"/>
            <a:chExt cx="437406" cy="38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976211">
            <a:off x="9984995" y="2707539"/>
            <a:ext cx="12191791" cy="12054634"/>
          </a:xfrm>
          <a:custGeom>
            <a:avLst/>
            <a:gdLst/>
            <a:ahLst/>
            <a:cxnLst/>
            <a:rect l="l" t="t" r="r" b="b"/>
            <a:pathLst>
              <a:path w="12191791" h="12054634">
                <a:moveTo>
                  <a:pt x="0" y="0"/>
                </a:moveTo>
                <a:lnTo>
                  <a:pt x="12191792" y="0"/>
                </a:lnTo>
                <a:lnTo>
                  <a:pt x="12191792" y="12054634"/>
                </a:lnTo>
                <a:lnTo>
                  <a:pt x="0" y="12054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grpSp>
        <p:nvGrpSpPr>
          <p:cNvPr id="6" name="Group 6"/>
          <p:cNvGrpSpPr/>
          <p:nvPr/>
        </p:nvGrpSpPr>
        <p:grpSpPr>
          <a:xfrm>
            <a:off x="3384827" y="9681733"/>
            <a:ext cx="489701" cy="1469400"/>
            <a:chOff x="0" y="0"/>
            <a:chExt cx="128975" cy="387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1496" y="3710169"/>
            <a:ext cx="613794" cy="61379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1496" y="5203884"/>
            <a:ext cx="613794" cy="61379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71496" y="5950741"/>
            <a:ext cx="613794" cy="61379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71496" y="4457026"/>
            <a:ext cx="613794" cy="613794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831049" y="3869722"/>
            <a:ext cx="294687" cy="294687"/>
          </a:xfrm>
          <a:custGeom>
            <a:avLst/>
            <a:gdLst/>
            <a:ahLst/>
            <a:cxnLst/>
            <a:rect l="l" t="t" r="r" b="b"/>
            <a:pathLst>
              <a:path w="294687" h="294687">
                <a:moveTo>
                  <a:pt x="0" y="0"/>
                </a:moveTo>
                <a:lnTo>
                  <a:pt x="294687" y="0"/>
                </a:lnTo>
                <a:lnTo>
                  <a:pt x="294687" y="294687"/>
                </a:lnTo>
                <a:lnTo>
                  <a:pt x="0" y="294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2" name="Freeform 22"/>
          <p:cNvSpPr/>
          <p:nvPr/>
        </p:nvSpPr>
        <p:spPr>
          <a:xfrm rot="2790211">
            <a:off x="2112952" y="-4964504"/>
            <a:ext cx="7136089" cy="7055808"/>
          </a:xfrm>
          <a:custGeom>
            <a:avLst/>
            <a:gdLst/>
            <a:ahLst/>
            <a:cxnLst/>
            <a:rect l="l" t="t" r="r" b="b"/>
            <a:pathLst>
              <a:path w="7136089" h="7055808">
                <a:moveTo>
                  <a:pt x="0" y="0"/>
                </a:moveTo>
                <a:lnTo>
                  <a:pt x="7136090" y="0"/>
                </a:lnTo>
                <a:lnTo>
                  <a:pt x="7136090" y="7055808"/>
                </a:lnTo>
                <a:lnTo>
                  <a:pt x="0" y="7055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23" name="Freeform 23"/>
          <p:cNvSpPr/>
          <p:nvPr/>
        </p:nvSpPr>
        <p:spPr>
          <a:xfrm>
            <a:off x="1831049" y="4616599"/>
            <a:ext cx="294687" cy="294687"/>
          </a:xfrm>
          <a:custGeom>
            <a:avLst/>
            <a:gdLst/>
            <a:ahLst/>
            <a:cxnLst/>
            <a:rect l="l" t="t" r="r" b="b"/>
            <a:pathLst>
              <a:path w="294687" h="294687">
                <a:moveTo>
                  <a:pt x="0" y="0"/>
                </a:moveTo>
                <a:lnTo>
                  <a:pt x="294687" y="0"/>
                </a:lnTo>
                <a:lnTo>
                  <a:pt x="294687" y="294687"/>
                </a:lnTo>
                <a:lnTo>
                  <a:pt x="0" y="294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4" name="Freeform 24"/>
          <p:cNvSpPr/>
          <p:nvPr/>
        </p:nvSpPr>
        <p:spPr>
          <a:xfrm>
            <a:off x="1831049" y="5359125"/>
            <a:ext cx="294687" cy="294687"/>
          </a:xfrm>
          <a:custGeom>
            <a:avLst/>
            <a:gdLst/>
            <a:ahLst/>
            <a:cxnLst/>
            <a:rect l="l" t="t" r="r" b="b"/>
            <a:pathLst>
              <a:path w="294687" h="294687">
                <a:moveTo>
                  <a:pt x="0" y="0"/>
                </a:moveTo>
                <a:lnTo>
                  <a:pt x="294687" y="0"/>
                </a:lnTo>
                <a:lnTo>
                  <a:pt x="294687" y="294687"/>
                </a:lnTo>
                <a:lnTo>
                  <a:pt x="0" y="294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5" name="Freeform 25"/>
          <p:cNvSpPr/>
          <p:nvPr/>
        </p:nvSpPr>
        <p:spPr>
          <a:xfrm>
            <a:off x="1831049" y="6110295"/>
            <a:ext cx="294687" cy="294687"/>
          </a:xfrm>
          <a:custGeom>
            <a:avLst/>
            <a:gdLst/>
            <a:ahLst/>
            <a:cxnLst/>
            <a:rect l="l" t="t" r="r" b="b"/>
            <a:pathLst>
              <a:path w="294687" h="294687">
                <a:moveTo>
                  <a:pt x="0" y="0"/>
                </a:moveTo>
                <a:lnTo>
                  <a:pt x="294687" y="0"/>
                </a:lnTo>
                <a:lnTo>
                  <a:pt x="294687" y="294687"/>
                </a:lnTo>
                <a:lnTo>
                  <a:pt x="0" y="294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6" name="TextBox 26"/>
          <p:cNvSpPr txBox="1"/>
          <p:nvPr/>
        </p:nvSpPr>
        <p:spPr>
          <a:xfrm>
            <a:off x="1639509" y="2187347"/>
            <a:ext cx="7784868" cy="1227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15"/>
              </a:lnSpc>
              <a:spcBef>
                <a:spcPct val="0"/>
              </a:spcBef>
            </a:pPr>
            <a:r>
              <a:rPr lang="en-US" sz="7963" b="1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SUMÁRIO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74195" y="3755374"/>
            <a:ext cx="8723758" cy="523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3492" b="1" spc="24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RECOLHER E LIMPAR O TEXTO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74195" y="5254661"/>
            <a:ext cx="10052299" cy="523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3492" b="1" spc="24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SCORING E N-GRAMS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857971" y="9597402"/>
            <a:ext cx="21490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74195" y="4502231"/>
            <a:ext cx="10030242" cy="513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3492" b="1" spc="24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TOKENIZAÇÃO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74195" y="6041064"/>
            <a:ext cx="12938481" cy="523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3492" b="1" spc="24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ENTIDADES ENCONTRADAS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671496" y="6697885"/>
            <a:ext cx="613794" cy="61379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1831049" y="6857438"/>
            <a:ext cx="294687" cy="294687"/>
          </a:xfrm>
          <a:custGeom>
            <a:avLst/>
            <a:gdLst/>
            <a:ahLst/>
            <a:cxnLst/>
            <a:rect l="l" t="t" r="r" b="b"/>
            <a:pathLst>
              <a:path w="294687" h="294687">
                <a:moveTo>
                  <a:pt x="0" y="0"/>
                </a:moveTo>
                <a:lnTo>
                  <a:pt x="294687" y="0"/>
                </a:lnTo>
                <a:lnTo>
                  <a:pt x="294687" y="294688"/>
                </a:lnTo>
                <a:lnTo>
                  <a:pt x="0" y="294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6" name="TextBox 36"/>
          <p:cNvSpPr txBox="1"/>
          <p:nvPr/>
        </p:nvSpPr>
        <p:spPr>
          <a:xfrm>
            <a:off x="2374195" y="6792991"/>
            <a:ext cx="10052299" cy="523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3492" b="1" spc="24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PRODUÇÃO DE LATEX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662531" y="7448418"/>
            <a:ext cx="613794" cy="613794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1831049" y="7608391"/>
            <a:ext cx="294687" cy="294687"/>
          </a:xfrm>
          <a:custGeom>
            <a:avLst/>
            <a:gdLst/>
            <a:ahLst/>
            <a:cxnLst/>
            <a:rect l="l" t="t" r="r" b="b"/>
            <a:pathLst>
              <a:path w="294687" h="294687">
                <a:moveTo>
                  <a:pt x="0" y="0"/>
                </a:moveTo>
                <a:lnTo>
                  <a:pt x="294687" y="0"/>
                </a:lnTo>
                <a:lnTo>
                  <a:pt x="294687" y="294687"/>
                </a:lnTo>
                <a:lnTo>
                  <a:pt x="0" y="294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 dirty="0"/>
          </a:p>
        </p:txBody>
      </p:sp>
      <p:sp>
        <p:nvSpPr>
          <p:cNvPr id="46" name="TextBox 46"/>
          <p:cNvSpPr txBox="1"/>
          <p:nvPr/>
        </p:nvSpPr>
        <p:spPr>
          <a:xfrm>
            <a:off x="2374195" y="7545063"/>
            <a:ext cx="10052299" cy="523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3492" b="1" spc="24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CONCLUSÃO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5620778" y="9654552"/>
            <a:ext cx="1660777" cy="1469400"/>
            <a:chOff x="0" y="0"/>
            <a:chExt cx="437406" cy="387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5059050" y="9654552"/>
            <a:ext cx="489701" cy="1469400"/>
            <a:chOff x="0" y="0"/>
            <a:chExt cx="128975" cy="387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859087" y="9597402"/>
            <a:ext cx="21267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3</a:t>
            </a:r>
          </a:p>
        </p:txBody>
      </p:sp>
      <p:sp>
        <p:nvSpPr>
          <p:cNvPr id="12" name="Freeform 12"/>
          <p:cNvSpPr/>
          <p:nvPr/>
        </p:nvSpPr>
        <p:spPr>
          <a:xfrm rot="4967707">
            <a:off x="15389879" y="2891078"/>
            <a:ext cx="6220890" cy="6150905"/>
          </a:xfrm>
          <a:custGeom>
            <a:avLst/>
            <a:gdLst/>
            <a:ahLst/>
            <a:cxnLst/>
            <a:rect l="l" t="t" r="r" b="b"/>
            <a:pathLst>
              <a:path w="6220890" h="6150905">
                <a:moveTo>
                  <a:pt x="0" y="0"/>
                </a:moveTo>
                <a:lnTo>
                  <a:pt x="6220889" y="0"/>
                </a:lnTo>
                <a:lnTo>
                  <a:pt x="6220889" y="6150904"/>
                </a:lnTo>
                <a:lnTo>
                  <a:pt x="0" y="61509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3" name="Freeform 13"/>
          <p:cNvSpPr/>
          <p:nvPr/>
        </p:nvSpPr>
        <p:spPr>
          <a:xfrm rot="-926200">
            <a:off x="-1005313" y="5506416"/>
            <a:ext cx="8407227" cy="8312646"/>
          </a:xfrm>
          <a:custGeom>
            <a:avLst/>
            <a:gdLst/>
            <a:ahLst/>
            <a:cxnLst/>
            <a:rect l="l" t="t" r="r" b="b"/>
            <a:pathLst>
              <a:path w="8407227" h="8312646">
                <a:moveTo>
                  <a:pt x="0" y="0"/>
                </a:moveTo>
                <a:lnTo>
                  <a:pt x="8407227" y="0"/>
                </a:lnTo>
                <a:lnTo>
                  <a:pt x="8407227" y="8312645"/>
                </a:lnTo>
                <a:lnTo>
                  <a:pt x="0" y="83126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4" name="Freeform 14"/>
          <p:cNvSpPr/>
          <p:nvPr/>
        </p:nvSpPr>
        <p:spPr>
          <a:xfrm>
            <a:off x="2566939" y="3720779"/>
            <a:ext cx="742844" cy="664228"/>
          </a:xfrm>
          <a:custGeom>
            <a:avLst/>
            <a:gdLst/>
            <a:ahLst/>
            <a:cxnLst/>
            <a:rect l="l" t="t" r="r" b="b"/>
            <a:pathLst>
              <a:path w="742844" h="664228">
                <a:moveTo>
                  <a:pt x="0" y="0"/>
                </a:moveTo>
                <a:lnTo>
                  <a:pt x="742845" y="0"/>
                </a:lnTo>
                <a:lnTo>
                  <a:pt x="742845" y="664228"/>
                </a:lnTo>
                <a:lnTo>
                  <a:pt x="0" y="664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5" name="Freeform 15"/>
          <p:cNvSpPr/>
          <p:nvPr/>
        </p:nvSpPr>
        <p:spPr>
          <a:xfrm>
            <a:off x="8864888" y="3637250"/>
            <a:ext cx="704718" cy="664228"/>
          </a:xfrm>
          <a:custGeom>
            <a:avLst/>
            <a:gdLst/>
            <a:ahLst/>
            <a:cxnLst/>
            <a:rect l="l" t="t" r="r" b="b"/>
            <a:pathLst>
              <a:path w="704718" h="664228">
                <a:moveTo>
                  <a:pt x="0" y="0"/>
                </a:moveTo>
                <a:lnTo>
                  <a:pt x="704719" y="0"/>
                </a:lnTo>
                <a:lnTo>
                  <a:pt x="704719" y="664228"/>
                </a:lnTo>
                <a:lnTo>
                  <a:pt x="0" y="6642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6" name="TextBox 16"/>
          <p:cNvSpPr txBox="1"/>
          <p:nvPr/>
        </p:nvSpPr>
        <p:spPr>
          <a:xfrm>
            <a:off x="1836833" y="787579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RESCOLHER E LIMPAR O TEXTO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79171" y="3728109"/>
            <a:ext cx="4457650" cy="5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 err="1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lIMPEZA</a:t>
            </a:r>
            <a:endParaRPr lang="en-US" sz="3299" b="1" dirty="0">
              <a:solidFill>
                <a:srgbClr val="AC5052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2566939" y="4474060"/>
            <a:ext cx="5725437" cy="4390186"/>
            <a:chOff x="0" y="0"/>
            <a:chExt cx="1507934" cy="6932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07934" cy="693212"/>
            </a:xfrm>
            <a:custGeom>
              <a:avLst/>
              <a:gdLst/>
              <a:ahLst/>
              <a:cxnLst/>
              <a:rect l="l" t="t" r="r" b="b"/>
              <a:pathLst>
                <a:path w="1507934" h="693212">
                  <a:moveTo>
                    <a:pt x="22987" y="0"/>
                  </a:moveTo>
                  <a:lnTo>
                    <a:pt x="1484947" y="0"/>
                  </a:lnTo>
                  <a:cubicBezTo>
                    <a:pt x="1497642" y="0"/>
                    <a:pt x="1507934" y="10292"/>
                    <a:pt x="1507934" y="22987"/>
                  </a:cubicBezTo>
                  <a:lnTo>
                    <a:pt x="1507934" y="670224"/>
                  </a:lnTo>
                  <a:cubicBezTo>
                    <a:pt x="1507934" y="682920"/>
                    <a:pt x="1497642" y="693212"/>
                    <a:pt x="1484947" y="693212"/>
                  </a:cubicBezTo>
                  <a:lnTo>
                    <a:pt x="22987" y="693212"/>
                  </a:lnTo>
                  <a:cubicBezTo>
                    <a:pt x="10292" y="693212"/>
                    <a:pt x="0" y="682920"/>
                    <a:pt x="0" y="670224"/>
                  </a:cubicBezTo>
                  <a:lnTo>
                    <a:pt x="0" y="22987"/>
                  </a:lnTo>
                  <a:cubicBezTo>
                    <a:pt x="0" y="10292"/>
                    <a:pt x="10292" y="0"/>
                    <a:pt x="22987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507934" cy="740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615160" y="4669397"/>
            <a:ext cx="5216669" cy="359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Uso da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expressao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re.sub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para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fazer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a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substituição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de 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todos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os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iguais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que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aparecem</a:t>
            </a:r>
            <a:endParaRPr lang="en-US" sz="3000" dirty="0">
              <a:solidFill>
                <a:srgbClr val="000000"/>
              </a:solidFill>
              <a:ea typeface="Raleway"/>
              <a:cs typeface="Raleway"/>
              <a:sym typeface="Raleway"/>
            </a:endParaRPr>
          </a:p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endParaRPr lang="en-US" sz="3000" dirty="0">
              <a:solidFill>
                <a:srgbClr val="000000"/>
              </a:solidFill>
              <a:ea typeface="Raleway"/>
              <a:cs typeface="Raleway"/>
              <a:sym typeface="Raleway"/>
            </a:endParaRPr>
          </a:p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Remoção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da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mesma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forma da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frase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“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Contéudo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disponível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em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Le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Livros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(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apenas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para o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harry.pdf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44602" y="3722603"/>
            <a:ext cx="4836356" cy="5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CODIGO / EXEMPLO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767900" y="4474060"/>
            <a:ext cx="7978804" cy="4453902"/>
            <a:chOff x="0" y="0"/>
            <a:chExt cx="1514236" cy="89904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14236" cy="899045"/>
            </a:xfrm>
            <a:custGeom>
              <a:avLst/>
              <a:gdLst/>
              <a:ahLst/>
              <a:cxnLst/>
              <a:rect l="l" t="t" r="r" b="b"/>
              <a:pathLst>
                <a:path w="1514236" h="899045">
                  <a:moveTo>
                    <a:pt x="22892" y="0"/>
                  </a:moveTo>
                  <a:lnTo>
                    <a:pt x="1491345" y="0"/>
                  </a:lnTo>
                  <a:cubicBezTo>
                    <a:pt x="1497416" y="0"/>
                    <a:pt x="1503239" y="2412"/>
                    <a:pt x="1507532" y="6705"/>
                  </a:cubicBezTo>
                  <a:cubicBezTo>
                    <a:pt x="1511825" y="10998"/>
                    <a:pt x="1514236" y="16820"/>
                    <a:pt x="1514236" y="22892"/>
                  </a:cubicBezTo>
                  <a:lnTo>
                    <a:pt x="1514236" y="876153"/>
                  </a:lnTo>
                  <a:cubicBezTo>
                    <a:pt x="1514236" y="882224"/>
                    <a:pt x="1511825" y="888047"/>
                    <a:pt x="1507532" y="892340"/>
                  </a:cubicBezTo>
                  <a:cubicBezTo>
                    <a:pt x="1503239" y="896633"/>
                    <a:pt x="1497416" y="899045"/>
                    <a:pt x="1491345" y="899045"/>
                  </a:cubicBezTo>
                  <a:lnTo>
                    <a:pt x="22892" y="899045"/>
                  </a:lnTo>
                  <a:cubicBezTo>
                    <a:pt x="16820" y="899045"/>
                    <a:pt x="10998" y="896633"/>
                    <a:pt x="6705" y="892340"/>
                  </a:cubicBezTo>
                  <a:cubicBezTo>
                    <a:pt x="2412" y="888047"/>
                    <a:pt x="0" y="882224"/>
                    <a:pt x="0" y="876153"/>
                  </a:cubicBezTo>
                  <a:lnTo>
                    <a:pt x="0" y="22892"/>
                  </a:lnTo>
                  <a:cubicBezTo>
                    <a:pt x="0" y="16820"/>
                    <a:pt x="2412" y="10998"/>
                    <a:pt x="6705" y="6705"/>
                  </a:cubicBezTo>
                  <a:cubicBezTo>
                    <a:pt x="10998" y="2412"/>
                    <a:pt x="16820" y="0"/>
                    <a:pt x="22892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514236" cy="946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0" name="Imagem 29">
            <a:extLst>
              <a:ext uri="{FF2B5EF4-FFF2-40B4-BE49-F238E27FC236}">
                <a16:creationId xmlns:a16="http://schemas.microsoft.com/office/drawing/2014/main" id="{7C3576CE-F042-F4B4-B0F4-D34E9BD11B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656" y="5066459"/>
            <a:ext cx="7579258" cy="727349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EA22BF60-7C90-CFAB-2E6E-C91618E63F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723" y="6556190"/>
            <a:ext cx="6159157" cy="16353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1CD78A-091E-8519-C566-2E87AA406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37D5904-E1A9-0A60-69EF-1594DFAABE30}"/>
              </a:ext>
            </a:extLst>
          </p:cNvPr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DC2F24-2137-9D37-101A-50AB8352D4B0}"/>
                </a:ext>
              </a:extLst>
            </p:cNvPr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005DA1A-D4B2-C546-2796-C322CBB6448F}"/>
                </a:ext>
              </a:extLst>
            </p:cNvPr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2808ACF-E006-8767-1C83-2222CECEAF24}"/>
              </a:ext>
            </a:extLst>
          </p:cNvPr>
          <p:cNvGrpSpPr/>
          <p:nvPr/>
        </p:nvGrpSpPr>
        <p:grpSpPr>
          <a:xfrm rot="-10800000">
            <a:off x="15620778" y="9654552"/>
            <a:ext cx="1660777" cy="1469400"/>
            <a:chOff x="0" y="0"/>
            <a:chExt cx="437406" cy="38700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679ED44-353E-3657-C9FE-E0901AE6A12B}"/>
                </a:ext>
              </a:extLst>
            </p:cNvPr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180BA8B-9452-DB45-B4D5-535CFC93D9AD}"/>
                </a:ext>
              </a:extLst>
            </p:cNvPr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FDFFAEC-244D-E8AA-0FF5-8351BFD6F03A}"/>
              </a:ext>
            </a:extLst>
          </p:cNvPr>
          <p:cNvGrpSpPr/>
          <p:nvPr/>
        </p:nvGrpSpPr>
        <p:grpSpPr>
          <a:xfrm rot="-10800000">
            <a:off x="15059050" y="9654552"/>
            <a:ext cx="489701" cy="1469400"/>
            <a:chOff x="0" y="0"/>
            <a:chExt cx="128975" cy="38700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9989D51-7E36-7354-7AD6-B9562B25D7F5}"/>
                </a:ext>
              </a:extLst>
            </p:cNvPr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A76A614-9A3C-295D-6C94-2FF7494D45D9}"/>
                </a:ext>
              </a:extLst>
            </p:cNvPr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048E8483-4DAE-1727-2031-65A7FA580CD5}"/>
              </a:ext>
            </a:extLst>
          </p:cNvPr>
          <p:cNvSpPr txBox="1"/>
          <p:nvPr/>
        </p:nvSpPr>
        <p:spPr>
          <a:xfrm>
            <a:off x="17859087" y="9597402"/>
            <a:ext cx="21267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3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7F3728E-50DB-F6B1-A8E4-8698F1DFD024}"/>
              </a:ext>
            </a:extLst>
          </p:cNvPr>
          <p:cNvSpPr/>
          <p:nvPr/>
        </p:nvSpPr>
        <p:spPr>
          <a:xfrm rot="4967707">
            <a:off x="15389879" y="2891078"/>
            <a:ext cx="6220890" cy="6150905"/>
          </a:xfrm>
          <a:custGeom>
            <a:avLst/>
            <a:gdLst/>
            <a:ahLst/>
            <a:cxnLst/>
            <a:rect l="l" t="t" r="r" b="b"/>
            <a:pathLst>
              <a:path w="6220890" h="6150905">
                <a:moveTo>
                  <a:pt x="0" y="0"/>
                </a:moveTo>
                <a:lnTo>
                  <a:pt x="6220889" y="0"/>
                </a:lnTo>
                <a:lnTo>
                  <a:pt x="6220889" y="6150904"/>
                </a:lnTo>
                <a:lnTo>
                  <a:pt x="0" y="61509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036FE5C-39C0-AAB7-CA67-05B5B915390B}"/>
              </a:ext>
            </a:extLst>
          </p:cNvPr>
          <p:cNvSpPr/>
          <p:nvPr/>
        </p:nvSpPr>
        <p:spPr>
          <a:xfrm rot="-926200">
            <a:off x="-1005313" y="5506416"/>
            <a:ext cx="8407227" cy="8312646"/>
          </a:xfrm>
          <a:custGeom>
            <a:avLst/>
            <a:gdLst/>
            <a:ahLst/>
            <a:cxnLst/>
            <a:rect l="l" t="t" r="r" b="b"/>
            <a:pathLst>
              <a:path w="8407227" h="8312646">
                <a:moveTo>
                  <a:pt x="0" y="0"/>
                </a:moveTo>
                <a:lnTo>
                  <a:pt x="8407227" y="0"/>
                </a:lnTo>
                <a:lnTo>
                  <a:pt x="8407227" y="8312645"/>
                </a:lnTo>
                <a:lnTo>
                  <a:pt x="0" y="83126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06EE9404-18E3-7506-43F5-C20EFDE84C64}"/>
              </a:ext>
            </a:extLst>
          </p:cNvPr>
          <p:cNvSpPr/>
          <p:nvPr/>
        </p:nvSpPr>
        <p:spPr>
          <a:xfrm>
            <a:off x="2566939" y="3720779"/>
            <a:ext cx="742844" cy="664228"/>
          </a:xfrm>
          <a:custGeom>
            <a:avLst/>
            <a:gdLst/>
            <a:ahLst/>
            <a:cxnLst/>
            <a:rect l="l" t="t" r="r" b="b"/>
            <a:pathLst>
              <a:path w="742844" h="664228">
                <a:moveTo>
                  <a:pt x="0" y="0"/>
                </a:moveTo>
                <a:lnTo>
                  <a:pt x="742845" y="0"/>
                </a:lnTo>
                <a:lnTo>
                  <a:pt x="742845" y="664228"/>
                </a:lnTo>
                <a:lnTo>
                  <a:pt x="0" y="664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B438339-CF88-6D74-D25D-C2CD21B77578}"/>
              </a:ext>
            </a:extLst>
          </p:cNvPr>
          <p:cNvSpPr txBox="1"/>
          <p:nvPr/>
        </p:nvSpPr>
        <p:spPr>
          <a:xfrm>
            <a:off x="1836833" y="787579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RESCOLHER E LIMPAR O TEXTO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475B780-85D3-A162-3612-8BDD29DE9998}"/>
              </a:ext>
            </a:extLst>
          </p:cNvPr>
          <p:cNvSpPr txBox="1"/>
          <p:nvPr/>
        </p:nvSpPr>
        <p:spPr>
          <a:xfrm>
            <a:off x="3479171" y="3728109"/>
            <a:ext cx="4457650" cy="5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 err="1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Texto</a:t>
            </a:r>
            <a:r>
              <a:rPr lang="en-US" sz="3299" b="1" dirty="0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 WEB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E3FFCE09-8718-27BF-00D9-26816BD15072}"/>
              </a:ext>
            </a:extLst>
          </p:cNvPr>
          <p:cNvGrpSpPr/>
          <p:nvPr/>
        </p:nvGrpSpPr>
        <p:grpSpPr>
          <a:xfrm>
            <a:off x="2566939" y="4474060"/>
            <a:ext cx="13884227" cy="4390186"/>
            <a:chOff x="0" y="0"/>
            <a:chExt cx="1507934" cy="693212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CB18FBF-1C58-9570-5992-5B9D1D3F6B5A}"/>
                </a:ext>
              </a:extLst>
            </p:cNvPr>
            <p:cNvSpPr/>
            <p:nvPr/>
          </p:nvSpPr>
          <p:spPr>
            <a:xfrm>
              <a:off x="0" y="0"/>
              <a:ext cx="1507934" cy="693212"/>
            </a:xfrm>
            <a:custGeom>
              <a:avLst/>
              <a:gdLst/>
              <a:ahLst/>
              <a:cxnLst/>
              <a:rect l="l" t="t" r="r" b="b"/>
              <a:pathLst>
                <a:path w="1507934" h="693212">
                  <a:moveTo>
                    <a:pt x="22987" y="0"/>
                  </a:moveTo>
                  <a:lnTo>
                    <a:pt x="1484947" y="0"/>
                  </a:lnTo>
                  <a:cubicBezTo>
                    <a:pt x="1497642" y="0"/>
                    <a:pt x="1507934" y="10292"/>
                    <a:pt x="1507934" y="22987"/>
                  </a:cubicBezTo>
                  <a:lnTo>
                    <a:pt x="1507934" y="670224"/>
                  </a:lnTo>
                  <a:cubicBezTo>
                    <a:pt x="1507934" y="682920"/>
                    <a:pt x="1497642" y="693212"/>
                    <a:pt x="1484947" y="693212"/>
                  </a:cubicBezTo>
                  <a:lnTo>
                    <a:pt x="22987" y="693212"/>
                  </a:lnTo>
                  <a:cubicBezTo>
                    <a:pt x="10292" y="693212"/>
                    <a:pt x="0" y="682920"/>
                    <a:pt x="0" y="670224"/>
                  </a:cubicBezTo>
                  <a:lnTo>
                    <a:pt x="0" y="22987"/>
                  </a:lnTo>
                  <a:cubicBezTo>
                    <a:pt x="0" y="10292"/>
                    <a:pt x="10292" y="0"/>
                    <a:pt x="22987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FBE35310-796C-521D-9953-D7E1030E92F6}"/>
                </a:ext>
              </a:extLst>
            </p:cNvPr>
            <p:cNvSpPr txBox="1"/>
            <p:nvPr/>
          </p:nvSpPr>
          <p:spPr>
            <a:xfrm>
              <a:off x="0" y="-47625"/>
              <a:ext cx="1507934" cy="740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B12D498F-2415-F015-8A98-040802E165E5}"/>
              </a:ext>
            </a:extLst>
          </p:cNvPr>
          <p:cNvSpPr txBox="1"/>
          <p:nvPr/>
        </p:nvSpPr>
        <p:spPr>
          <a:xfrm>
            <a:off x="2615160" y="4669397"/>
            <a:ext cx="13836006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PT" sz="3000" b="1" dirty="0" err="1"/>
              <a:t>headers</a:t>
            </a:r>
            <a:r>
              <a:rPr lang="pt-PT" sz="3000" b="1" dirty="0"/>
              <a:t> = {‘</a:t>
            </a:r>
            <a:r>
              <a:rPr lang="pt-PT" sz="3000" b="1" dirty="0" err="1"/>
              <a:t>User-Agent</a:t>
            </a:r>
            <a:r>
              <a:rPr lang="pt-PT" sz="3000" b="1" dirty="0"/>
              <a:t>’: ‘Mozilla/5.0’} </a:t>
            </a:r>
            <a:r>
              <a:rPr lang="pt-PT" sz="3000" dirty="0"/>
              <a:t>→ Simula um navegador (browser).</a:t>
            </a:r>
          </a:p>
          <a:p>
            <a:r>
              <a:rPr lang="pt-PT" sz="3000" dirty="0"/>
              <a:t>	- Muitos sites bloqueiam </a:t>
            </a:r>
            <a:r>
              <a:rPr lang="pt-PT" sz="3000" dirty="0" err="1"/>
              <a:t>bots</a:t>
            </a:r>
            <a:r>
              <a:rPr lang="pt-PT" sz="3000" dirty="0"/>
              <a:t> que não têm </a:t>
            </a:r>
            <a:r>
              <a:rPr lang="pt-PT" sz="3000" dirty="0" err="1"/>
              <a:t>User-Agent</a:t>
            </a:r>
            <a:endParaRPr lang="pt-PT" sz="3000" dirty="0"/>
          </a:p>
          <a:p>
            <a:r>
              <a:rPr lang="pt-PT" sz="3000" dirty="0"/>
              <a:t>	- Isto "disfarça" o script como um Firefox/Chrome real</a:t>
            </a:r>
          </a:p>
          <a:p>
            <a:r>
              <a:rPr lang="pt-PT" sz="3000" b="1" dirty="0" err="1"/>
              <a:t>Request.get</a:t>
            </a:r>
            <a:r>
              <a:rPr lang="pt-PT" sz="3000" b="1" dirty="0"/>
              <a:t>(</a:t>
            </a:r>
            <a:r>
              <a:rPr lang="pt-PT" sz="3000" b="1" dirty="0" err="1"/>
              <a:t>url</a:t>
            </a:r>
            <a:r>
              <a:rPr lang="pt-PT" sz="3000" b="1" dirty="0"/>
              <a:t>, </a:t>
            </a:r>
            <a:r>
              <a:rPr lang="pt-PT" sz="3000" b="1" dirty="0" err="1"/>
              <a:t>headers</a:t>
            </a:r>
            <a:r>
              <a:rPr lang="pt-PT" sz="3000" b="1" dirty="0"/>
              <a:t>=</a:t>
            </a:r>
            <a:r>
              <a:rPr lang="pt-PT" sz="3000" b="1" dirty="0" err="1"/>
              <a:t>headres</a:t>
            </a:r>
            <a:r>
              <a:rPr lang="pt-PT" sz="3000" b="1" dirty="0"/>
              <a:t>, </a:t>
            </a:r>
            <a:r>
              <a:rPr lang="pt-PT" sz="3000" b="1" dirty="0" err="1"/>
              <a:t>timeout</a:t>
            </a:r>
            <a:r>
              <a:rPr lang="pt-PT" sz="3000" b="1" dirty="0"/>
              <a:t>=10) </a:t>
            </a:r>
            <a:r>
              <a:rPr lang="pt-PT" sz="3000" dirty="0"/>
              <a:t>→ Descarrega a página.</a:t>
            </a:r>
          </a:p>
          <a:p>
            <a:r>
              <a:rPr lang="pt-PT" sz="3000" dirty="0"/>
              <a:t>	- </a:t>
            </a:r>
            <a:r>
              <a:rPr lang="pt-PT" sz="3000" dirty="0" err="1"/>
              <a:t>timeout</a:t>
            </a:r>
            <a:r>
              <a:rPr lang="pt-PT" sz="3000" dirty="0"/>
              <a:t> = 10 → se demorar &gt; 10 segundos, cancela</a:t>
            </a:r>
          </a:p>
          <a:p>
            <a:r>
              <a:rPr lang="pt-PT" sz="3000" b="1" dirty="0" err="1"/>
              <a:t>Response.raise_for_status</a:t>
            </a:r>
            <a:r>
              <a:rPr lang="pt-PT" sz="3000" b="1" dirty="0"/>
              <a:t>()</a:t>
            </a:r>
            <a:r>
              <a:rPr lang="pt-PT" sz="3000" dirty="0"/>
              <a:t>→ Se houver erro (404, 500...), lança exceção.</a:t>
            </a:r>
          </a:p>
        </p:txBody>
      </p:sp>
    </p:spTree>
    <p:extLst>
      <p:ext uri="{BB962C8B-B14F-4D97-AF65-F5344CB8AC3E}">
        <p14:creationId xmlns:p14="http://schemas.microsoft.com/office/powerpoint/2010/main" val="461436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1BA63-B7E5-6D15-76C2-1A144945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A8549CB-6DEF-3F87-C845-3ED20EEDA1D7}"/>
              </a:ext>
            </a:extLst>
          </p:cNvPr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D34F391-6673-AFEE-45F4-6BC11A761161}"/>
                </a:ext>
              </a:extLst>
            </p:cNvPr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329E3AD-0E9E-5785-1258-812F22E1320C}"/>
                </a:ext>
              </a:extLst>
            </p:cNvPr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878FC6D-43EB-59C7-8146-2D5C8352712E}"/>
              </a:ext>
            </a:extLst>
          </p:cNvPr>
          <p:cNvGrpSpPr/>
          <p:nvPr/>
        </p:nvGrpSpPr>
        <p:grpSpPr>
          <a:xfrm rot="-10800000">
            <a:off x="15620778" y="9654552"/>
            <a:ext cx="1660777" cy="1469400"/>
            <a:chOff x="0" y="0"/>
            <a:chExt cx="437406" cy="38700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E09C546-D1BB-C410-0443-4C87C4529713}"/>
                </a:ext>
              </a:extLst>
            </p:cNvPr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541359E-9A3A-E453-FF27-DDAED9765FBB}"/>
                </a:ext>
              </a:extLst>
            </p:cNvPr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88F69DC-14D9-9ACE-649B-E89A8BD61B5B}"/>
              </a:ext>
            </a:extLst>
          </p:cNvPr>
          <p:cNvGrpSpPr/>
          <p:nvPr/>
        </p:nvGrpSpPr>
        <p:grpSpPr>
          <a:xfrm rot="-10800000">
            <a:off x="15059050" y="9654552"/>
            <a:ext cx="489701" cy="1469400"/>
            <a:chOff x="0" y="0"/>
            <a:chExt cx="128975" cy="38700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4CA9BC2-FE26-5166-82ED-3352867FDC35}"/>
                </a:ext>
              </a:extLst>
            </p:cNvPr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7FF518C-D92F-2E26-FF7B-B7754BBFDCDB}"/>
                </a:ext>
              </a:extLst>
            </p:cNvPr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A3BDEB1D-DF5C-92FA-ABFA-784C4816436D}"/>
              </a:ext>
            </a:extLst>
          </p:cNvPr>
          <p:cNvSpPr txBox="1"/>
          <p:nvPr/>
        </p:nvSpPr>
        <p:spPr>
          <a:xfrm>
            <a:off x="17859087" y="9597402"/>
            <a:ext cx="21267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3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DA973D6-6B46-4B13-C88B-20EB1A8E8B51}"/>
              </a:ext>
            </a:extLst>
          </p:cNvPr>
          <p:cNvSpPr/>
          <p:nvPr/>
        </p:nvSpPr>
        <p:spPr>
          <a:xfrm rot="4967707">
            <a:off x="15389879" y="2891078"/>
            <a:ext cx="6220890" cy="6150905"/>
          </a:xfrm>
          <a:custGeom>
            <a:avLst/>
            <a:gdLst/>
            <a:ahLst/>
            <a:cxnLst/>
            <a:rect l="l" t="t" r="r" b="b"/>
            <a:pathLst>
              <a:path w="6220890" h="6150905">
                <a:moveTo>
                  <a:pt x="0" y="0"/>
                </a:moveTo>
                <a:lnTo>
                  <a:pt x="6220889" y="0"/>
                </a:lnTo>
                <a:lnTo>
                  <a:pt x="6220889" y="6150904"/>
                </a:lnTo>
                <a:lnTo>
                  <a:pt x="0" y="61509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2D107C6-33D6-2F2D-BC4C-01B11312C891}"/>
              </a:ext>
            </a:extLst>
          </p:cNvPr>
          <p:cNvSpPr/>
          <p:nvPr/>
        </p:nvSpPr>
        <p:spPr>
          <a:xfrm rot="-926200">
            <a:off x="-1005313" y="5506416"/>
            <a:ext cx="8407227" cy="8312646"/>
          </a:xfrm>
          <a:custGeom>
            <a:avLst/>
            <a:gdLst/>
            <a:ahLst/>
            <a:cxnLst/>
            <a:rect l="l" t="t" r="r" b="b"/>
            <a:pathLst>
              <a:path w="8407227" h="8312646">
                <a:moveTo>
                  <a:pt x="0" y="0"/>
                </a:moveTo>
                <a:lnTo>
                  <a:pt x="8407227" y="0"/>
                </a:lnTo>
                <a:lnTo>
                  <a:pt x="8407227" y="8312645"/>
                </a:lnTo>
                <a:lnTo>
                  <a:pt x="0" y="83126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53256CF-9407-A02D-0A82-E978C893C750}"/>
              </a:ext>
            </a:extLst>
          </p:cNvPr>
          <p:cNvSpPr txBox="1"/>
          <p:nvPr/>
        </p:nvSpPr>
        <p:spPr>
          <a:xfrm>
            <a:off x="1836833" y="787579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RESCOLHER E LIMPAR O TEXTO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38F4B04E-BDB4-4CC5-58BB-B759C91031C7}"/>
              </a:ext>
            </a:extLst>
          </p:cNvPr>
          <p:cNvGrpSpPr/>
          <p:nvPr/>
        </p:nvGrpSpPr>
        <p:grpSpPr>
          <a:xfrm>
            <a:off x="806182" y="3628691"/>
            <a:ext cx="8201098" cy="4971237"/>
            <a:chOff x="0" y="0"/>
            <a:chExt cx="1507934" cy="693212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9E7F00F-4D5D-C953-B7E6-55CBE191E7C6}"/>
                </a:ext>
              </a:extLst>
            </p:cNvPr>
            <p:cNvSpPr/>
            <p:nvPr/>
          </p:nvSpPr>
          <p:spPr>
            <a:xfrm>
              <a:off x="0" y="0"/>
              <a:ext cx="1507934" cy="693212"/>
            </a:xfrm>
            <a:custGeom>
              <a:avLst/>
              <a:gdLst/>
              <a:ahLst/>
              <a:cxnLst/>
              <a:rect l="l" t="t" r="r" b="b"/>
              <a:pathLst>
                <a:path w="1507934" h="693212">
                  <a:moveTo>
                    <a:pt x="22987" y="0"/>
                  </a:moveTo>
                  <a:lnTo>
                    <a:pt x="1484947" y="0"/>
                  </a:lnTo>
                  <a:cubicBezTo>
                    <a:pt x="1497642" y="0"/>
                    <a:pt x="1507934" y="10292"/>
                    <a:pt x="1507934" y="22987"/>
                  </a:cubicBezTo>
                  <a:lnTo>
                    <a:pt x="1507934" y="670224"/>
                  </a:lnTo>
                  <a:cubicBezTo>
                    <a:pt x="1507934" y="682920"/>
                    <a:pt x="1497642" y="693212"/>
                    <a:pt x="1484947" y="693212"/>
                  </a:cubicBezTo>
                  <a:lnTo>
                    <a:pt x="22987" y="693212"/>
                  </a:lnTo>
                  <a:cubicBezTo>
                    <a:pt x="10292" y="693212"/>
                    <a:pt x="0" y="682920"/>
                    <a:pt x="0" y="670224"/>
                  </a:cubicBezTo>
                  <a:lnTo>
                    <a:pt x="0" y="22987"/>
                  </a:lnTo>
                  <a:cubicBezTo>
                    <a:pt x="0" y="10292"/>
                    <a:pt x="10292" y="0"/>
                    <a:pt x="22987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 sz="300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4BBB1A20-DC3A-28BD-F13E-968C79A283FB}"/>
                </a:ext>
              </a:extLst>
            </p:cNvPr>
            <p:cNvSpPr txBox="1"/>
            <p:nvPr/>
          </p:nvSpPr>
          <p:spPr>
            <a:xfrm>
              <a:off x="0" y="-47625"/>
              <a:ext cx="1507934" cy="740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3000"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63BB0D0E-DD94-3FFA-5E17-16AF80D60567}"/>
              </a:ext>
            </a:extLst>
          </p:cNvPr>
          <p:cNvSpPr txBox="1"/>
          <p:nvPr/>
        </p:nvSpPr>
        <p:spPr>
          <a:xfrm>
            <a:off x="1186795" y="3869916"/>
            <a:ext cx="7820485" cy="4693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PT" sz="2500" dirty="0" err="1"/>
              <a:t>soup</a:t>
            </a:r>
            <a:r>
              <a:rPr lang="pt-PT" sz="2500" dirty="0"/>
              <a:t> = </a:t>
            </a:r>
            <a:r>
              <a:rPr lang="pt-PT" sz="2500" dirty="0" err="1"/>
              <a:t>BeautifulSoup</a:t>
            </a:r>
            <a:r>
              <a:rPr lang="pt-PT" sz="2500" dirty="0"/>
              <a:t>(</a:t>
            </a:r>
            <a:r>
              <a:rPr lang="pt-PT" sz="2500" dirty="0" err="1"/>
              <a:t>response.text</a:t>
            </a:r>
            <a:r>
              <a:rPr lang="pt-PT" sz="2500" dirty="0"/>
              <a:t>, '</a:t>
            </a:r>
            <a:r>
              <a:rPr lang="pt-PT" sz="2500" dirty="0" err="1"/>
              <a:t>html.parser</a:t>
            </a:r>
            <a:r>
              <a:rPr lang="pt-PT" sz="2500" dirty="0"/>
              <a:t>’)</a:t>
            </a:r>
          </a:p>
          <a:p>
            <a:endParaRPr lang="pt-PT" sz="2500" dirty="0"/>
          </a:p>
          <a:p>
            <a:r>
              <a:rPr lang="pt-PT" sz="2500" b="1" dirty="0" err="1"/>
              <a:t>BeautifulSoup</a:t>
            </a:r>
            <a:r>
              <a:rPr lang="pt-PT" sz="2500" b="1" dirty="0"/>
              <a:t>() </a:t>
            </a:r>
            <a:r>
              <a:rPr lang="pt-PT" sz="2500" dirty="0"/>
              <a:t>= biblioteca para ler o HTML</a:t>
            </a:r>
          </a:p>
          <a:p>
            <a:r>
              <a:rPr lang="pt-PT" sz="2500" b="1" dirty="0" err="1"/>
              <a:t>Response.text</a:t>
            </a:r>
            <a:r>
              <a:rPr lang="pt-PT" sz="2500" b="1" dirty="0"/>
              <a:t> </a:t>
            </a:r>
            <a:r>
              <a:rPr lang="pt-PT" sz="2500" dirty="0"/>
              <a:t>= HTML completo como </a:t>
            </a:r>
            <a:r>
              <a:rPr lang="pt-PT" sz="2500" dirty="0" err="1"/>
              <a:t>string</a:t>
            </a:r>
            <a:endParaRPr lang="pt-PT" sz="2500" dirty="0"/>
          </a:p>
          <a:p>
            <a:r>
              <a:rPr lang="pt-PT" sz="2500" b="1" dirty="0" err="1"/>
              <a:t>Html.parser</a:t>
            </a:r>
            <a:r>
              <a:rPr lang="pt-PT" sz="2500" b="1" dirty="0"/>
              <a:t> </a:t>
            </a:r>
            <a:r>
              <a:rPr lang="pt-PT" sz="2500" dirty="0"/>
              <a:t>= tipo de </a:t>
            </a:r>
            <a:r>
              <a:rPr lang="pt-PT" sz="2500" dirty="0" err="1"/>
              <a:t>parser</a:t>
            </a:r>
            <a:r>
              <a:rPr lang="pt-PT" sz="2500" dirty="0"/>
              <a:t> a usar</a:t>
            </a:r>
          </a:p>
          <a:p>
            <a:endParaRPr lang="pt-PT" sz="2500" dirty="0"/>
          </a:p>
          <a:p>
            <a:r>
              <a:rPr lang="pt-PT" sz="2500" dirty="0"/>
              <a:t>for </a:t>
            </a:r>
            <a:r>
              <a:rPr lang="pt-PT" sz="2500" dirty="0" err="1"/>
              <a:t>script_or_style</a:t>
            </a:r>
            <a:r>
              <a:rPr lang="pt-PT" sz="2500" dirty="0"/>
              <a:t> in </a:t>
            </a:r>
            <a:r>
              <a:rPr lang="pt-PT" sz="2500" dirty="0" err="1"/>
              <a:t>soup</a:t>
            </a:r>
            <a:r>
              <a:rPr lang="pt-PT" sz="2500" dirty="0"/>
              <a:t>(["script", "</a:t>
            </a:r>
            <a:r>
              <a:rPr lang="pt-PT" sz="2500" dirty="0" err="1"/>
              <a:t>style</a:t>
            </a:r>
            <a:r>
              <a:rPr lang="pt-PT" sz="2500" dirty="0"/>
              <a:t>", "</a:t>
            </a:r>
            <a:r>
              <a:rPr lang="pt-PT" sz="2500" dirty="0" err="1"/>
              <a:t>nav</a:t>
            </a:r>
            <a:r>
              <a:rPr lang="pt-PT" sz="2500" dirty="0"/>
              <a:t>", "</a:t>
            </a:r>
            <a:r>
              <a:rPr lang="pt-PT" sz="2500" dirty="0" err="1"/>
              <a:t>footer</a:t>
            </a:r>
            <a:r>
              <a:rPr lang="pt-PT" sz="2500" dirty="0"/>
              <a:t>", "</a:t>
            </a:r>
            <a:r>
              <a:rPr lang="pt-PT" sz="2500" dirty="0" err="1"/>
              <a:t>header</a:t>
            </a:r>
            <a:r>
              <a:rPr lang="pt-PT" sz="2500" dirty="0"/>
              <a:t>"]):</a:t>
            </a:r>
          </a:p>
          <a:p>
            <a:r>
              <a:rPr lang="pt-PT" sz="2500" dirty="0"/>
              <a:t>    </a:t>
            </a:r>
            <a:r>
              <a:rPr lang="pt-PT" sz="2500" dirty="0" err="1"/>
              <a:t>script_or_style.</a:t>
            </a:r>
            <a:r>
              <a:rPr lang="pt-PT" sz="2500" b="1" dirty="0" err="1"/>
              <a:t>decompose</a:t>
            </a:r>
            <a:r>
              <a:rPr lang="pt-PT" sz="2500" b="1" dirty="0"/>
              <a:t>()</a:t>
            </a:r>
          </a:p>
          <a:p>
            <a:endParaRPr lang="pt-PT" sz="2500" dirty="0"/>
          </a:p>
          <a:p>
            <a:r>
              <a:rPr lang="pt-PT" sz="2500" dirty="0"/>
              <a:t>Remove elementos que não contêm relevância no HTML</a:t>
            </a:r>
          </a:p>
          <a:p>
            <a:endParaRPr lang="pt-PT" sz="3000" dirty="0"/>
          </a:p>
        </p:txBody>
      </p:sp>
      <p:grpSp>
        <p:nvGrpSpPr>
          <p:cNvPr id="22" name="Group 18">
            <a:extLst>
              <a:ext uri="{FF2B5EF4-FFF2-40B4-BE49-F238E27FC236}">
                <a16:creationId xmlns:a16="http://schemas.microsoft.com/office/drawing/2014/main" id="{03C925DD-C537-127D-A581-90FD55A91AAF}"/>
              </a:ext>
            </a:extLst>
          </p:cNvPr>
          <p:cNvGrpSpPr/>
          <p:nvPr/>
        </p:nvGrpSpPr>
        <p:grpSpPr>
          <a:xfrm>
            <a:off x="9447341" y="3628691"/>
            <a:ext cx="8201098" cy="4971237"/>
            <a:chOff x="0" y="0"/>
            <a:chExt cx="1507934" cy="693212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6DAA355B-0B2E-9E90-3044-A90235FDF445}"/>
                </a:ext>
              </a:extLst>
            </p:cNvPr>
            <p:cNvSpPr/>
            <p:nvPr/>
          </p:nvSpPr>
          <p:spPr>
            <a:xfrm>
              <a:off x="0" y="0"/>
              <a:ext cx="1507934" cy="693212"/>
            </a:xfrm>
            <a:custGeom>
              <a:avLst/>
              <a:gdLst/>
              <a:ahLst/>
              <a:cxnLst/>
              <a:rect l="l" t="t" r="r" b="b"/>
              <a:pathLst>
                <a:path w="1507934" h="693212">
                  <a:moveTo>
                    <a:pt x="22987" y="0"/>
                  </a:moveTo>
                  <a:lnTo>
                    <a:pt x="1484947" y="0"/>
                  </a:lnTo>
                  <a:cubicBezTo>
                    <a:pt x="1497642" y="0"/>
                    <a:pt x="1507934" y="10292"/>
                    <a:pt x="1507934" y="22987"/>
                  </a:cubicBezTo>
                  <a:lnTo>
                    <a:pt x="1507934" y="670224"/>
                  </a:lnTo>
                  <a:cubicBezTo>
                    <a:pt x="1507934" y="682920"/>
                    <a:pt x="1497642" y="693212"/>
                    <a:pt x="1484947" y="693212"/>
                  </a:cubicBezTo>
                  <a:lnTo>
                    <a:pt x="22987" y="693212"/>
                  </a:lnTo>
                  <a:cubicBezTo>
                    <a:pt x="10292" y="693212"/>
                    <a:pt x="0" y="682920"/>
                    <a:pt x="0" y="670224"/>
                  </a:cubicBezTo>
                  <a:lnTo>
                    <a:pt x="0" y="22987"/>
                  </a:lnTo>
                  <a:cubicBezTo>
                    <a:pt x="0" y="10292"/>
                    <a:pt x="10292" y="0"/>
                    <a:pt x="22987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 sz="3000" dirty="0"/>
            </a:p>
          </p:txBody>
        </p:sp>
        <p:sp>
          <p:nvSpPr>
            <p:cNvPr id="24" name="TextBox 20">
              <a:extLst>
                <a:ext uri="{FF2B5EF4-FFF2-40B4-BE49-F238E27FC236}">
                  <a16:creationId xmlns:a16="http://schemas.microsoft.com/office/drawing/2014/main" id="{C527A2F4-EDF4-6324-BF02-F9E747633093}"/>
                </a:ext>
              </a:extLst>
            </p:cNvPr>
            <p:cNvSpPr txBox="1"/>
            <p:nvPr/>
          </p:nvSpPr>
          <p:spPr>
            <a:xfrm>
              <a:off x="0" y="-47625"/>
              <a:ext cx="1507934" cy="740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3000"/>
            </a:p>
          </p:txBody>
        </p:sp>
      </p:grpSp>
      <p:pic>
        <p:nvPicPr>
          <p:cNvPr id="26" name="Imagem 25">
            <a:extLst>
              <a:ext uri="{FF2B5EF4-FFF2-40B4-BE49-F238E27FC236}">
                <a16:creationId xmlns:a16="http://schemas.microsoft.com/office/drawing/2014/main" id="{D02ADE1E-F43D-46E0-8750-A6E9D2DD84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458" y="4168399"/>
            <a:ext cx="6227821" cy="409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97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14020">
            <a:off x="-1501038" y="6633818"/>
            <a:ext cx="8407227" cy="8312646"/>
          </a:xfrm>
          <a:custGeom>
            <a:avLst/>
            <a:gdLst/>
            <a:ahLst/>
            <a:cxnLst/>
            <a:rect l="l" t="t" r="r" b="b"/>
            <a:pathLst>
              <a:path w="8407227" h="8312646">
                <a:moveTo>
                  <a:pt x="0" y="0"/>
                </a:moveTo>
                <a:lnTo>
                  <a:pt x="8407227" y="0"/>
                </a:lnTo>
                <a:lnTo>
                  <a:pt x="8407227" y="8312646"/>
                </a:lnTo>
                <a:lnTo>
                  <a:pt x="0" y="8312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15620778" y="9654552"/>
            <a:ext cx="1660777" cy="1469400"/>
            <a:chOff x="0" y="0"/>
            <a:chExt cx="437406" cy="387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5059050" y="9654552"/>
            <a:ext cx="489701" cy="1469400"/>
            <a:chOff x="0" y="0"/>
            <a:chExt cx="128975" cy="3870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2766610">
            <a:off x="14437556" y="5424183"/>
            <a:ext cx="5876560" cy="5810449"/>
          </a:xfrm>
          <a:custGeom>
            <a:avLst/>
            <a:gdLst/>
            <a:ahLst/>
            <a:cxnLst/>
            <a:rect l="l" t="t" r="r" b="b"/>
            <a:pathLst>
              <a:path w="5876560" h="5810449">
                <a:moveTo>
                  <a:pt x="0" y="0"/>
                </a:moveTo>
                <a:lnTo>
                  <a:pt x="5876560" y="0"/>
                </a:lnTo>
                <a:lnTo>
                  <a:pt x="5876560" y="5810449"/>
                </a:lnTo>
                <a:lnTo>
                  <a:pt x="0" y="5810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grpSp>
        <p:nvGrpSpPr>
          <p:cNvPr id="13" name="Group 13"/>
          <p:cNvGrpSpPr/>
          <p:nvPr/>
        </p:nvGrpSpPr>
        <p:grpSpPr>
          <a:xfrm>
            <a:off x="538571" y="4432761"/>
            <a:ext cx="5252941" cy="2926814"/>
            <a:chOff x="0" y="0"/>
            <a:chExt cx="1383491" cy="10594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83491" cy="1059415"/>
            </a:xfrm>
            <a:custGeom>
              <a:avLst/>
              <a:gdLst/>
              <a:ahLst/>
              <a:cxnLst/>
              <a:rect l="l" t="t" r="r" b="b"/>
              <a:pathLst>
                <a:path w="1383491" h="1059415">
                  <a:moveTo>
                    <a:pt x="25055" y="0"/>
                  </a:moveTo>
                  <a:lnTo>
                    <a:pt x="1358435" y="0"/>
                  </a:lnTo>
                  <a:cubicBezTo>
                    <a:pt x="1365081" y="0"/>
                    <a:pt x="1371453" y="2640"/>
                    <a:pt x="1376152" y="7338"/>
                  </a:cubicBezTo>
                  <a:cubicBezTo>
                    <a:pt x="1380851" y="12037"/>
                    <a:pt x="1383491" y="18410"/>
                    <a:pt x="1383491" y="25055"/>
                  </a:cubicBezTo>
                  <a:lnTo>
                    <a:pt x="1383491" y="1034360"/>
                  </a:lnTo>
                  <a:cubicBezTo>
                    <a:pt x="1383491" y="1048198"/>
                    <a:pt x="1372273" y="1059415"/>
                    <a:pt x="1358435" y="1059415"/>
                  </a:cubicBezTo>
                  <a:lnTo>
                    <a:pt x="25055" y="1059415"/>
                  </a:lnTo>
                  <a:cubicBezTo>
                    <a:pt x="18410" y="1059415"/>
                    <a:pt x="12037" y="1056776"/>
                    <a:pt x="7338" y="1052077"/>
                  </a:cubicBezTo>
                  <a:cubicBezTo>
                    <a:pt x="2640" y="1047378"/>
                    <a:pt x="0" y="1041005"/>
                    <a:pt x="0" y="1034360"/>
                  </a:cubicBezTo>
                  <a:lnTo>
                    <a:pt x="0" y="25055"/>
                  </a:lnTo>
                  <a:cubicBezTo>
                    <a:pt x="0" y="18410"/>
                    <a:pt x="2640" y="12037"/>
                    <a:pt x="7338" y="7338"/>
                  </a:cubicBezTo>
                  <a:cubicBezTo>
                    <a:pt x="12037" y="2640"/>
                    <a:pt x="18410" y="0"/>
                    <a:pt x="25055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383491" cy="11070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307980" y="4432762"/>
            <a:ext cx="5252941" cy="2926814"/>
            <a:chOff x="0" y="0"/>
            <a:chExt cx="1383491" cy="10594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83491" cy="1059415"/>
            </a:xfrm>
            <a:custGeom>
              <a:avLst/>
              <a:gdLst/>
              <a:ahLst/>
              <a:cxnLst/>
              <a:rect l="l" t="t" r="r" b="b"/>
              <a:pathLst>
                <a:path w="1383491" h="1059415">
                  <a:moveTo>
                    <a:pt x="25055" y="0"/>
                  </a:moveTo>
                  <a:lnTo>
                    <a:pt x="1358435" y="0"/>
                  </a:lnTo>
                  <a:cubicBezTo>
                    <a:pt x="1365081" y="0"/>
                    <a:pt x="1371453" y="2640"/>
                    <a:pt x="1376152" y="7338"/>
                  </a:cubicBezTo>
                  <a:cubicBezTo>
                    <a:pt x="1380851" y="12037"/>
                    <a:pt x="1383491" y="18410"/>
                    <a:pt x="1383491" y="25055"/>
                  </a:cubicBezTo>
                  <a:lnTo>
                    <a:pt x="1383491" y="1034360"/>
                  </a:lnTo>
                  <a:cubicBezTo>
                    <a:pt x="1383491" y="1048198"/>
                    <a:pt x="1372273" y="1059415"/>
                    <a:pt x="1358435" y="1059415"/>
                  </a:cubicBezTo>
                  <a:lnTo>
                    <a:pt x="25055" y="1059415"/>
                  </a:lnTo>
                  <a:cubicBezTo>
                    <a:pt x="18410" y="1059415"/>
                    <a:pt x="12037" y="1056776"/>
                    <a:pt x="7338" y="1052077"/>
                  </a:cubicBezTo>
                  <a:cubicBezTo>
                    <a:pt x="2640" y="1047378"/>
                    <a:pt x="0" y="1041005"/>
                    <a:pt x="0" y="1034360"/>
                  </a:cubicBezTo>
                  <a:lnTo>
                    <a:pt x="0" y="25055"/>
                  </a:lnTo>
                  <a:cubicBezTo>
                    <a:pt x="0" y="18410"/>
                    <a:pt x="2640" y="12037"/>
                    <a:pt x="7338" y="7338"/>
                  </a:cubicBezTo>
                  <a:cubicBezTo>
                    <a:pt x="12037" y="2640"/>
                    <a:pt x="18410" y="0"/>
                    <a:pt x="25055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383491" cy="11070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122895" y="4432761"/>
            <a:ext cx="5401457" cy="2926814"/>
            <a:chOff x="0" y="0"/>
            <a:chExt cx="1422606" cy="7232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22606" cy="723223"/>
            </a:xfrm>
            <a:custGeom>
              <a:avLst/>
              <a:gdLst/>
              <a:ahLst/>
              <a:cxnLst/>
              <a:rect l="l" t="t" r="r" b="b"/>
              <a:pathLst>
                <a:path w="1422606" h="723223">
                  <a:moveTo>
                    <a:pt x="24366" y="0"/>
                  </a:moveTo>
                  <a:lnTo>
                    <a:pt x="1398240" y="0"/>
                  </a:lnTo>
                  <a:cubicBezTo>
                    <a:pt x="1411697" y="0"/>
                    <a:pt x="1422606" y="10909"/>
                    <a:pt x="1422606" y="24366"/>
                  </a:cubicBezTo>
                  <a:lnTo>
                    <a:pt x="1422606" y="698857"/>
                  </a:lnTo>
                  <a:cubicBezTo>
                    <a:pt x="1422606" y="712314"/>
                    <a:pt x="1411697" y="723223"/>
                    <a:pt x="1398240" y="723223"/>
                  </a:cubicBezTo>
                  <a:lnTo>
                    <a:pt x="24366" y="723223"/>
                  </a:lnTo>
                  <a:cubicBezTo>
                    <a:pt x="10909" y="723223"/>
                    <a:pt x="0" y="712314"/>
                    <a:pt x="0" y="698857"/>
                  </a:cubicBezTo>
                  <a:lnTo>
                    <a:pt x="0" y="24366"/>
                  </a:lnTo>
                  <a:cubicBezTo>
                    <a:pt x="0" y="10909"/>
                    <a:pt x="10909" y="0"/>
                    <a:pt x="24366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422606" cy="7708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765238" y="3516774"/>
            <a:ext cx="831723" cy="831723"/>
          </a:xfrm>
          <a:custGeom>
            <a:avLst/>
            <a:gdLst/>
            <a:ahLst/>
            <a:cxnLst/>
            <a:rect l="l" t="t" r="r" b="b"/>
            <a:pathLst>
              <a:path w="831723" h="831723">
                <a:moveTo>
                  <a:pt x="0" y="0"/>
                </a:moveTo>
                <a:lnTo>
                  <a:pt x="831724" y="0"/>
                </a:lnTo>
                <a:lnTo>
                  <a:pt x="831724" y="831723"/>
                </a:lnTo>
                <a:lnTo>
                  <a:pt x="0" y="831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5" name="TextBox 25"/>
          <p:cNvSpPr txBox="1"/>
          <p:nvPr/>
        </p:nvSpPr>
        <p:spPr>
          <a:xfrm>
            <a:off x="17856594" y="9597402"/>
            <a:ext cx="21766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36833" y="787579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TOKENIZAÇÃO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06487" y="3600847"/>
            <a:ext cx="3755306" cy="5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AÇÃO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36766" y="3615757"/>
            <a:ext cx="4954719" cy="543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OBJETO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793974" y="3591322"/>
            <a:ext cx="5062619" cy="543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MOVIMENTO</a:t>
            </a:r>
          </a:p>
        </p:txBody>
      </p:sp>
      <p:sp>
        <p:nvSpPr>
          <p:cNvPr id="33" name="Freeform 22">
            <a:extLst>
              <a:ext uri="{FF2B5EF4-FFF2-40B4-BE49-F238E27FC236}">
                <a16:creationId xmlns:a16="http://schemas.microsoft.com/office/drawing/2014/main" id="{74CEDA68-63D1-6DED-3811-42934DD29F28}"/>
              </a:ext>
            </a:extLst>
          </p:cNvPr>
          <p:cNvSpPr/>
          <p:nvPr/>
        </p:nvSpPr>
        <p:spPr>
          <a:xfrm>
            <a:off x="5978204" y="3459624"/>
            <a:ext cx="831723" cy="831723"/>
          </a:xfrm>
          <a:custGeom>
            <a:avLst/>
            <a:gdLst/>
            <a:ahLst/>
            <a:cxnLst/>
            <a:rect l="l" t="t" r="r" b="b"/>
            <a:pathLst>
              <a:path w="831723" h="831723">
                <a:moveTo>
                  <a:pt x="0" y="0"/>
                </a:moveTo>
                <a:lnTo>
                  <a:pt x="831724" y="0"/>
                </a:lnTo>
                <a:lnTo>
                  <a:pt x="831724" y="831723"/>
                </a:lnTo>
                <a:lnTo>
                  <a:pt x="0" y="831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4" name="Freeform 22">
            <a:extLst>
              <a:ext uri="{FF2B5EF4-FFF2-40B4-BE49-F238E27FC236}">
                <a16:creationId xmlns:a16="http://schemas.microsoft.com/office/drawing/2014/main" id="{EB124769-8771-BEE0-1C95-98F535A73C78}"/>
              </a:ext>
            </a:extLst>
          </p:cNvPr>
          <p:cNvSpPr/>
          <p:nvPr/>
        </p:nvSpPr>
        <p:spPr>
          <a:xfrm>
            <a:off x="12062958" y="3510625"/>
            <a:ext cx="831723" cy="831723"/>
          </a:xfrm>
          <a:custGeom>
            <a:avLst/>
            <a:gdLst/>
            <a:ahLst/>
            <a:cxnLst/>
            <a:rect l="l" t="t" r="r" b="b"/>
            <a:pathLst>
              <a:path w="831723" h="831723">
                <a:moveTo>
                  <a:pt x="0" y="0"/>
                </a:moveTo>
                <a:lnTo>
                  <a:pt x="831724" y="0"/>
                </a:lnTo>
                <a:lnTo>
                  <a:pt x="831724" y="831723"/>
                </a:lnTo>
                <a:lnTo>
                  <a:pt x="0" y="831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21EEAB43-74F6-7CB4-7C20-E194CD2D85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207" y="4823938"/>
            <a:ext cx="4678145" cy="2180312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094194F0-D3F5-D4FE-E0E9-6547BFC87D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8467" y="4806012"/>
            <a:ext cx="4925951" cy="2181833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0F7CBD8A-4590-AC4C-8CE2-ED70EB6628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99" y="8528747"/>
            <a:ext cx="4437194" cy="541547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5E09951D-A927-31A2-EA58-863AC5814B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339" y="7801737"/>
            <a:ext cx="6453880" cy="523744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7856916-F103-CF4D-546F-982A36A187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2" y="8530492"/>
            <a:ext cx="8261509" cy="542727"/>
          </a:xfrm>
          <a:prstGeom prst="rect">
            <a:avLst/>
          </a:prstGeom>
        </p:spPr>
      </p:pic>
      <p:sp>
        <p:nvSpPr>
          <p:cNvPr id="41" name="Seta para Baixo 40">
            <a:extLst>
              <a:ext uri="{FF2B5EF4-FFF2-40B4-BE49-F238E27FC236}">
                <a16:creationId xmlns:a16="http://schemas.microsoft.com/office/drawing/2014/main" id="{AE603676-FC69-E008-A1B3-C40A70D6F61B}"/>
              </a:ext>
            </a:extLst>
          </p:cNvPr>
          <p:cNvSpPr/>
          <p:nvPr/>
        </p:nvSpPr>
        <p:spPr>
          <a:xfrm>
            <a:off x="14557117" y="7623027"/>
            <a:ext cx="428649" cy="7270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2" name="Seta para Baixo 41">
            <a:extLst>
              <a:ext uri="{FF2B5EF4-FFF2-40B4-BE49-F238E27FC236}">
                <a16:creationId xmlns:a16="http://schemas.microsoft.com/office/drawing/2014/main" id="{29E6D08F-3F24-1909-4C86-94C9BFD084FA}"/>
              </a:ext>
            </a:extLst>
          </p:cNvPr>
          <p:cNvSpPr/>
          <p:nvPr/>
        </p:nvSpPr>
        <p:spPr>
          <a:xfrm>
            <a:off x="2928871" y="7598471"/>
            <a:ext cx="428649" cy="7270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3" name="Seta para Baixo 42">
            <a:extLst>
              <a:ext uri="{FF2B5EF4-FFF2-40B4-BE49-F238E27FC236}">
                <a16:creationId xmlns:a16="http://schemas.microsoft.com/office/drawing/2014/main" id="{DE70CD65-4D0F-01F6-C382-1C2DECC1F888}"/>
              </a:ext>
            </a:extLst>
          </p:cNvPr>
          <p:cNvSpPr/>
          <p:nvPr/>
        </p:nvSpPr>
        <p:spPr>
          <a:xfrm>
            <a:off x="8712910" y="7042314"/>
            <a:ext cx="428649" cy="7270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830BDB9A-D1F4-A347-3F23-DC0777F3C8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48" y="5143500"/>
            <a:ext cx="4849557" cy="15170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6DA46-DD98-9DFD-AC1F-18BF7DA6F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3B0CE8D-54BE-6ADD-64C7-74E6BF0781F1}"/>
              </a:ext>
            </a:extLst>
          </p:cNvPr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B2C139D-8309-D383-D8E2-2958A8AA7645}"/>
                </a:ext>
              </a:extLst>
            </p:cNvPr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2FAE1EC-70CC-542C-8E7D-3F48A01DC4EC}"/>
                </a:ext>
              </a:extLst>
            </p:cNvPr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EAC0D8C-1793-7121-AB05-96E1BFF6A231}"/>
              </a:ext>
            </a:extLst>
          </p:cNvPr>
          <p:cNvGrpSpPr/>
          <p:nvPr/>
        </p:nvGrpSpPr>
        <p:grpSpPr>
          <a:xfrm rot="-10800000">
            <a:off x="15620778" y="9654552"/>
            <a:ext cx="1660777" cy="1469400"/>
            <a:chOff x="0" y="0"/>
            <a:chExt cx="437406" cy="38700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EEBB36A-94C3-38D0-2A2B-BFDA1DB0491B}"/>
                </a:ext>
              </a:extLst>
            </p:cNvPr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DF92C96-04A0-348C-AAB7-5616BB59AD0C}"/>
                </a:ext>
              </a:extLst>
            </p:cNvPr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3D26C2E-DF89-A778-EBDF-58D7ED888A71}"/>
              </a:ext>
            </a:extLst>
          </p:cNvPr>
          <p:cNvGrpSpPr/>
          <p:nvPr/>
        </p:nvGrpSpPr>
        <p:grpSpPr>
          <a:xfrm rot="-10800000">
            <a:off x="15059050" y="9654552"/>
            <a:ext cx="489701" cy="1469400"/>
            <a:chOff x="0" y="0"/>
            <a:chExt cx="128975" cy="38700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A9C8146-E095-F53B-C8AF-4925AFF9366C}"/>
                </a:ext>
              </a:extLst>
            </p:cNvPr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19347EA-D701-608F-BC32-46971DCAB367}"/>
                </a:ext>
              </a:extLst>
            </p:cNvPr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28BC51D-C0B3-EB30-FE59-CB8BAE827DF1}"/>
              </a:ext>
            </a:extLst>
          </p:cNvPr>
          <p:cNvSpPr txBox="1"/>
          <p:nvPr/>
        </p:nvSpPr>
        <p:spPr>
          <a:xfrm>
            <a:off x="17859087" y="9597402"/>
            <a:ext cx="21267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3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C6703B5-36EA-6143-9CD9-96A00C61112D}"/>
              </a:ext>
            </a:extLst>
          </p:cNvPr>
          <p:cNvSpPr/>
          <p:nvPr/>
        </p:nvSpPr>
        <p:spPr>
          <a:xfrm rot="4967707">
            <a:off x="15389879" y="2891078"/>
            <a:ext cx="6220890" cy="6150905"/>
          </a:xfrm>
          <a:custGeom>
            <a:avLst/>
            <a:gdLst/>
            <a:ahLst/>
            <a:cxnLst/>
            <a:rect l="l" t="t" r="r" b="b"/>
            <a:pathLst>
              <a:path w="6220890" h="6150905">
                <a:moveTo>
                  <a:pt x="0" y="0"/>
                </a:moveTo>
                <a:lnTo>
                  <a:pt x="6220889" y="0"/>
                </a:lnTo>
                <a:lnTo>
                  <a:pt x="6220889" y="6150904"/>
                </a:lnTo>
                <a:lnTo>
                  <a:pt x="0" y="61509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223A169-5FB1-8308-6C95-E11D240676BF}"/>
              </a:ext>
            </a:extLst>
          </p:cNvPr>
          <p:cNvSpPr/>
          <p:nvPr/>
        </p:nvSpPr>
        <p:spPr>
          <a:xfrm rot="-926200">
            <a:off x="-1005313" y="5506416"/>
            <a:ext cx="8407227" cy="8312646"/>
          </a:xfrm>
          <a:custGeom>
            <a:avLst/>
            <a:gdLst/>
            <a:ahLst/>
            <a:cxnLst/>
            <a:rect l="l" t="t" r="r" b="b"/>
            <a:pathLst>
              <a:path w="8407227" h="8312646">
                <a:moveTo>
                  <a:pt x="0" y="0"/>
                </a:moveTo>
                <a:lnTo>
                  <a:pt x="8407227" y="0"/>
                </a:lnTo>
                <a:lnTo>
                  <a:pt x="8407227" y="8312645"/>
                </a:lnTo>
                <a:lnTo>
                  <a:pt x="0" y="83126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55BE54D4-6BC6-6C52-F44F-C33EDA4E26E0}"/>
              </a:ext>
            </a:extLst>
          </p:cNvPr>
          <p:cNvSpPr/>
          <p:nvPr/>
        </p:nvSpPr>
        <p:spPr>
          <a:xfrm>
            <a:off x="2566939" y="3720779"/>
            <a:ext cx="742844" cy="664228"/>
          </a:xfrm>
          <a:custGeom>
            <a:avLst/>
            <a:gdLst/>
            <a:ahLst/>
            <a:cxnLst/>
            <a:rect l="l" t="t" r="r" b="b"/>
            <a:pathLst>
              <a:path w="742844" h="664228">
                <a:moveTo>
                  <a:pt x="0" y="0"/>
                </a:moveTo>
                <a:lnTo>
                  <a:pt x="742845" y="0"/>
                </a:lnTo>
                <a:lnTo>
                  <a:pt x="742845" y="664228"/>
                </a:lnTo>
                <a:lnTo>
                  <a:pt x="0" y="664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32A74786-7427-EA86-26DF-C6E54C0E8A6F}"/>
              </a:ext>
            </a:extLst>
          </p:cNvPr>
          <p:cNvSpPr/>
          <p:nvPr/>
        </p:nvSpPr>
        <p:spPr>
          <a:xfrm>
            <a:off x="8864888" y="3637250"/>
            <a:ext cx="704718" cy="664228"/>
          </a:xfrm>
          <a:custGeom>
            <a:avLst/>
            <a:gdLst/>
            <a:ahLst/>
            <a:cxnLst/>
            <a:rect l="l" t="t" r="r" b="b"/>
            <a:pathLst>
              <a:path w="704718" h="664228">
                <a:moveTo>
                  <a:pt x="0" y="0"/>
                </a:moveTo>
                <a:lnTo>
                  <a:pt x="704719" y="0"/>
                </a:lnTo>
                <a:lnTo>
                  <a:pt x="704719" y="664228"/>
                </a:lnTo>
                <a:lnTo>
                  <a:pt x="0" y="6642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6800673-7598-99C3-F79F-418AAC419CB6}"/>
              </a:ext>
            </a:extLst>
          </p:cNvPr>
          <p:cNvSpPr txBox="1"/>
          <p:nvPr/>
        </p:nvSpPr>
        <p:spPr>
          <a:xfrm>
            <a:off x="1836833" y="787579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SCORING E N-GRAMS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DC9A7AE-B230-BABD-5C40-84CF1A3E608E}"/>
              </a:ext>
            </a:extLst>
          </p:cNvPr>
          <p:cNvSpPr txBox="1"/>
          <p:nvPr/>
        </p:nvSpPr>
        <p:spPr>
          <a:xfrm>
            <a:off x="3479171" y="3728109"/>
            <a:ext cx="4457650" cy="5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N-GRAMS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058CB4B6-9976-ACE6-A53E-CB3F1AD15580}"/>
              </a:ext>
            </a:extLst>
          </p:cNvPr>
          <p:cNvGrpSpPr/>
          <p:nvPr/>
        </p:nvGrpSpPr>
        <p:grpSpPr>
          <a:xfrm>
            <a:off x="2732764" y="4453858"/>
            <a:ext cx="5829474" cy="4691800"/>
            <a:chOff x="43674" y="-3190"/>
            <a:chExt cx="1535335" cy="74083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DA17458B-CA89-7778-283F-9343F6DC773D}"/>
                </a:ext>
              </a:extLst>
            </p:cNvPr>
            <p:cNvSpPr/>
            <p:nvPr/>
          </p:nvSpPr>
          <p:spPr>
            <a:xfrm>
              <a:off x="43674" y="0"/>
              <a:ext cx="1507934" cy="693212"/>
            </a:xfrm>
            <a:custGeom>
              <a:avLst/>
              <a:gdLst/>
              <a:ahLst/>
              <a:cxnLst/>
              <a:rect l="l" t="t" r="r" b="b"/>
              <a:pathLst>
                <a:path w="1507934" h="693212">
                  <a:moveTo>
                    <a:pt x="22987" y="0"/>
                  </a:moveTo>
                  <a:lnTo>
                    <a:pt x="1484947" y="0"/>
                  </a:lnTo>
                  <a:cubicBezTo>
                    <a:pt x="1497642" y="0"/>
                    <a:pt x="1507934" y="10292"/>
                    <a:pt x="1507934" y="22987"/>
                  </a:cubicBezTo>
                  <a:lnTo>
                    <a:pt x="1507934" y="670224"/>
                  </a:lnTo>
                  <a:cubicBezTo>
                    <a:pt x="1507934" y="682920"/>
                    <a:pt x="1497642" y="693212"/>
                    <a:pt x="1484947" y="693212"/>
                  </a:cubicBezTo>
                  <a:lnTo>
                    <a:pt x="22987" y="693212"/>
                  </a:lnTo>
                  <a:cubicBezTo>
                    <a:pt x="10292" y="693212"/>
                    <a:pt x="0" y="682920"/>
                    <a:pt x="0" y="670224"/>
                  </a:cubicBezTo>
                  <a:lnTo>
                    <a:pt x="0" y="22987"/>
                  </a:lnTo>
                  <a:cubicBezTo>
                    <a:pt x="0" y="10292"/>
                    <a:pt x="10292" y="0"/>
                    <a:pt x="22987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PT" sz="2500" dirty="0"/>
                <a:t>Uso de </a:t>
              </a:r>
              <a:r>
                <a:rPr lang="pt-PT" sz="2500" dirty="0" err="1"/>
                <a:t>Bi-grams</a:t>
              </a:r>
              <a:r>
                <a:rPr lang="pt-PT" sz="2500" dirty="0"/>
                <a:t>;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PT" sz="2500" dirty="0"/>
                <a:t>Ignorar frases que contenham muitos dígitos (&gt;15%) e stop-</a:t>
              </a:r>
              <a:r>
                <a:rPr lang="pt-PT" sz="2500" dirty="0" err="1"/>
                <a:t>words</a:t>
              </a:r>
              <a:r>
                <a:rPr lang="pt-PT" sz="2500" dirty="0"/>
                <a:t>;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PT" sz="2500" dirty="0"/>
                <a:t>Ignorar frases longas ou muito curtas;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PT" sz="2500" dirty="0"/>
                <a:t>Obrigatório ter VERB em forma canónica ou AUX para haver no mínimo padrões de Ação ou Movimento.</a:t>
              </a:r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24B42259-46EF-6133-EB66-CD96399DEDE6}"/>
                </a:ext>
              </a:extLst>
            </p:cNvPr>
            <p:cNvSpPr txBox="1"/>
            <p:nvPr/>
          </p:nvSpPr>
          <p:spPr>
            <a:xfrm>
              <a:off x="71075" y="-3190"/>
              <a:ext cx="1507934" cy="740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3CF8DB8E-F7B9-5FE9-0C79-4D7AA7EED4C5}"/>
              </a:ext>
            </a:extLst>
          </p:cNvPr>
          <p:cNvSpPr txBox="1"/>
          <p:nvPr/>
        </p:nvSpPr>
        <p:spPr>
          <a:xfrm>
            <a:off x="9744602" y="3722603"/>
            <a:ext cx="4836356" cy="5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N-GRAMS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495669CB-387B-D4B5-EDBE-811B3A668BBB}"/>
              </a:ext>
            </a:extLst>
          </p:cNvPr>
          <p:cNvGrpSpPr/>
          <p:nvPr/>
        </p:nvGrpSpPr>
        <p:grpSpPr>
          <a:xfrm>
            <a:off x="8761119" y="4238124"/>
            <a:ext cx="7985585" cy="4626123"/>
            <a:chOff x="-1287" y="-47625"/>
            <a:chExt cx="1515523" cy="94667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CE6A3500-6CD5-CE1A-37E5-498682681EB6}"/>
                </a:ext>
              </a:extLst>
            </p:cNvPr>
            <p:cNvSpPr/>
            <p:nvPr/>
          </p:nvSpPr>
          <p:spPr>
            <a:xfrm>
              <a:off x="-1287" y="0"/>
              <a:ext cx="1156204" cy="899045"/>
            </a:xfrm>
            <a:custGeom>
              <a:avLst/>
              <a:gdLst/>
              <a:ahLst/>
              <a:cxnLst/>
              <a:rect l="l" t="t" r="r" b="b"/>
              <a:pathLst>
                <a:path w="1514236" h="899045">
                  <a:moveTo>
                    <a:pt x="22892" y="0"/>
                  </a:moveTo>
                  <a:lnTo>
                    <a:pt x="1491345" y="0"/>
                  </a:lnTo>
                  <a:cubicBezTo>
                    <a:pt x="1497416" y="0"/>
                    <a:pt x="1503239" y="2412"/>
                    <a:pt x="1507532" y="6705"/>
                  </a:cubicBezTo>
                  <a:cubicBezTo>
                    <a:pt x="1511825" y="10998"/>
                    <a:pt x="1514236" y="16820"/>
                    <a:pt x="1514236" y="22892"/>
                  </a:cubicBezTo>
                  <a:lnTo>
                    <a:pt x="1514236" y="876153"/>
                  </a:lnTo>
                  <a:cubicBezTo>
                    <a:pt x="1514236" y="882224"/>
                    <a:pt x="1511825" y="888047"/>
                    <a:pt x="1507532" y="892340"/>
                  </a:cubicBezTo>
                  <a:cubicBezTo>
                    <a:pt x="1503239" y="896633"/>
                    <a:pt x="1497416" y="899045"/>
                    <a:pt x="1491345" y="899045"/>
                  </a:cubicBezTo>
                  <a:lnTo>
                    <a:pt x="22892" y="899045"/>
                  </a:lnTo>
                  <a:cubicBezTo>
                    <a:pt x="16820" y="899045"/>
                    <a:pt x="10998" y="896633"/>
                    <a:pt x="6705" y="892340"/>
                  </a:cubicBezTo>
                  <a:cubicBezTo>
                    <a:pt x="2412" y="888047"/>
                    <a:pt x="0" y="882224"/>
                    <a:pt x="0" y="876153"/>
                  </a:cubicBezTo>
                  <a:lnTo>
                    <a:pt x="0" y="22892"/>
                  </a:lnTo>
                  <a:cubicBezTo>
                    <a:pt x="0" y="16820"/>
                    <a:pt x="2412" y="10998"/>
                    <a:pt x="6705" y="6705"/>
                  </a:cubicBezTo>
                  <a:cubicBezTo>
                    <a:pt x="10998" y="2412"/>
                    <a:pt x="16820" y="0"/>
                    <a:pt x="22892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r>
                <a:rPr lang="pt-PT" sz="2500" dirty="0"/>
                <a:t>TEXTO : “Harry usa varinha”</a:t>
              </a:r>
            </a:p>
            <a:p>
              <a:r>
                <a:rPr lang="pt-PT" sz="2500" dirty="0"/>
                <a:t>BI-GRAMS : (Harry, usar), (usar, varinha)</a:t>
              </a:r>
            </a:p>
            <a:p>
              <a:endParaRPr lang="pt-PT" sz="2500" dirty="0"/>
            </a:p>
            <a:p>
              <a:r>
                <a:rPr lang="pt-PT" sz="2500" dirty="0"/>
                <a:t>Se "Harry usar" aparecer 5 vezes e ”usar varinha" aparecer 2 vezes:</a:t>
              </a:r>
            </a:p>
            <a:p>
              <a:r>
                <a:rPr lang="pt-PT" sz="2500" dirty="0"/>
                <a:t>- (Harry, usar) → contagem = 5</a:t>
              </a:r>
            </a:p>
            <a:p>
              <a:r>
                <a:rPr lang="pt-PT" sz="2500" dirty="0"/>
                <a:t>- (usar, varinha) → contagem = 2</a:t>
              </a:r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AFC40E5D-20AA-2509-7520-74E5ABFED6DA}"/>
                </a:ext>
              </a:extLst>
            </p:cNvPr>
            <p:cNvSpPr txBox="1"/>
            <p:nvPr/>
          </p:nvSpPr>
          <p:spPr>
            <a:xfrm>
              <a:off x="0" y="-47625"/>
              <a:ext cx="1514236" cy="946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07084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82269" y="9552300"/>
            <a:ext cx="1660777" cy="1469400"/>
            <a:chOff x="0" y="0"/>
            <a:chExt cx="437406" cy="387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208027" y="9552300"/>
            <a:ext cx="489701" cy="1469400"/>
            <a:chOff x="0" y="0"/>
            <a:chExt cx="128975" cy="387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6593028">
            <a:off x="-3618956" y="3362660"/>
            <a:ext cx="6761690" cy="6685621"/>
          </a:xfrm>
          <a:custGeom>
            <a:avLst/>
            <a:gdLst/>
            <a:ahLst/>
            <a:cxnLst/>
            <a:rect l="l" t="t" r="r" b="b"/>
            <a:pathLst>
              <a:path w="6761690" h="6685621">
                <a:moveTo>
                  <a:pt x="0" y="0"/>
                </a:moveTo>
                <a:lnTo>
                  <a:pt x="6761691" y="0"/>
                </a:lnTo>
                <a:lnTo>
                  <a:pt x="6761691" y="6685621"/>
                </a:lnTo>
                <a:lnTo>
                  <a:pt x="0" y="6685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2" name="Freeform 12"/>
          <p:cNvSpPr/>
          <p:nvPr/>
        </p:nvSpPr>
        <p:spPr>
          <a:xfrm rot="2766610">
            <a:off x="15988625" y="3337999"/>
            <a:ext cx="5924261" cy="5857613"/>
          </a:xfrm>
          <a:custGeom>
            <a:avLst/>
            <a:gdLst/>
            <a:ahLst/>
            <a:cxnLst/>
            <a:rect l="l" t="t" r="r" b="b"/>
            <a:pathLst>
              <a:path w="5924261" h="5857613">
                <a:moveTo>
                  <a:pt x="0" y="0"/>
                </a:moveTo>
                <a:lnTo>
                  <a:pt x="5924260" y="0"/>
                </a:lnTo>
                <a:lnTo>
                  <a:pt x="5924260" y="5857613"/>
                </a:lnTo>
                <a:lnTo>
                  <a:pt x="0" y="5857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Box 14"/>
          <p:cNvSpPr txBox="1"/>
          <p:nvPr/>
        </p:nvSpPr>
        <p:spPr>
          <a:xfrm>
            <a:off x="2168196" y="806554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SCORING E N-GRAMS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9850" y="9597402"/>
            <a:ext cx="211150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5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235F618-39CF-6D0F-E395-B3FE4FDFA985}"/>
              </a:ext>
            </a:extLst>
          </p:cNvPr>
          <p:cNvSpPr txBox="1"/>
          <p:nvPr/>
        </p:nvSpPr>
        <p:spPr>
          <a:xfrm>
            <a:off x="1505471" y="2955583"/>
            <a:ext cx="14911778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500" dirty="0"/>
              <a:t>O objetivo é </a:t>
            </a:r>
            <a:r>
              <a:rPr lang="pt-PT" sz="2500" b="1" dirty="0"/>
              <a:t>encontrar as 3 frases mais "representativas"</a:t>
            </a:r>
            <a:r>
              <a:rPr lang="pt-PT" sz="2500" dirty="0"/>
              <a:t> do texto usando um modelo de </a:t>
            </a:r>
            <a:r>
              <a:rPr lang="pt-PT" sz="2500" b="1" dirty="0"/>
              <a:t>n-</a:t>
            </a:r>
            <a:r>
              <a:rPr lang="pt-PT" sz="2500" b="1" dirty="0" err="1"/>
              <a:t>grams</a:t>
            </a:r>
            <a:r>
              <a:rPr lang="pt-PT" sz="2500" b="1" dirty="0"/>
              <a:t> (especificamente </a:t>
            </a:r>
            <a:r>
              <a:rPr lang="pt-PT" sz="2500" b="1" dirty="0" err="1"/>
              <a:t>bi-grams</a:t>
            </a:r>
            <a:r>
              <a:rPr lang="pt-PT" sz="2500" b="1" dirty="0"/>
              <a:t>)</a:t>
            </a:r>
            <a:r>
              <a:rPr lang="pt-PT" sz="2500" dirty="0"/>
              <a:t>.</a:t>
            </a:r>
          </a:p>
          <a:p>
            <a:endParaRPr lang="pt-PT" dirty="0"/>
          </a:p>
          <a:p>
            <a:r>
              <a:rPr lang="pt-PT" sz="2500" b="1" dirty="0"/>
              <a:t>Frase A: "Harry correu rápido pela floresta"</a:t>
            </a:r>
          </a:p>
          <a:p>
            <a:r>
              <a:rPr lang="pt-PT" sz="2500" b="1" dirty="0"/>
              <a:t>Frase B: "Hermione leu o livro”</a:t>
            </a:r>
          </a:p>
          <a:p>
            <a:endParaRPr lang="pt-PT" sz="2500" dirty="0"/>
          </a:p>
          <a:p>
            <a:r>
              <a:rPr lang="pt-PT" sz="2500" dirty="0"/>
              <a:t>Frase A:</a:t>
            </a:r>
          </a:p>
          <a:p>
            <a:r>
              <a:rPr lang="pt-PT" sz="2500" dirty="0"/>
              <a:t>- </a:t>
            </a:r>
            <a:r>
              <a:rPr lang="pt-PT" sz="2500" dirty="0" err="1"/>
              <a:t>Bi-grams</a:t>
            </a:r>
            <a:r>
              <a:rPr lang="pt-PT" sz="2500" dirty="0"/>
              <a:t>: (</a:t>
            </a:r>
            <a:r>
              <a:rPr lang="pt-PT" sz="2500" dirty="0" err="1"/>
              <a:t>harry</a:t>
            </a:r>
            <a:r>
              <a:rPr lang="pt-PT" sz="2500" dirty="0"/>
              <a:t>, correr)=1, (correr, rápido)=1, (rápido, floresta)=1</a:t>
            </a:r>
          </a:p>
          <a:p>
            <a:r>
              <a:rPr lang="pt-PT" sz="2500" dirty="0"/>
              <a:t>- Score bruto = 1 + 1 + 1 = 3</a:t>
            </a:r>
          </a:p>
          <a:p>
            <a:r>
              <a:rPr lang="pt-PT" sz="2500" dirty="0"/>
              <a:t>- </a:t>
            </a:r>
            <a:r>
              <a:rPr lang="pt-PT" sz="2500" dirty="0" err="1"/>
              <a:t>Tokens</a:t>
            </a:r>
            <a:r>
              <a:rPr lang="pt-PT" sz="2500" dirty="0"/>
              <a:t> = 4</a:t>
            </a:r>
          </a:p>
          <a:p>
            <a:r>
              <a:rPr lang="pt-PT" sz="2500" dirty="0"/>
              <a:t>- Score final = 3 / 4 = 0.75</a:t>
            </a:r>
          </a:p>
          <a:p>
            <a:endParaRPr lang="pt-PT" sz="2500" dirty="0"/>
          </a:p>
          <a:p>
            <a:r>
              <a:rPr lang="pt-PT" sz="2500" dirty="0"/>
              <a:t>Frase B:</a:t>
            </a:r>
          </a:p>
          <a:p>
            <a:r>
              <a:rPr lang="pt-PT" sz="2500" dirty="0"/>
              <a:t>- </a:t>
            </a:r>
            <a:r>
              <a:rPr lang="pt-PT" sz="2500" dirty="0" err="1"/>
              <a:t>Bi-grams</a:t>
            </a:r>
            <a:r>
              <a:rPr lang="pt-PT" sz="2500" dirty="0"/>
              <a:t>: (</a:t>
            </a:r>
            <a:r>
              <a:rPr lang="pt-PT" sz="2500" dirty="0" err="1"/>
              <a:t>hermione</a:t>
            </a:r>
            <a:r>
              <a:rPr lang="pt-PT" sz="2500" dirty="0"/>
              <a:t>, ler)=1, (ler, livro)=1</a:t>
            </a:r>
          </a:p>
          <a:p>
            <a:r>
              <a:rPr lang="pt-PT" sz="2500" dirty="0"/>
              <a:t>- Score bruto = 1 + 1 = 2</a:t>
            </a:r>
          </a:p>
          <a:p>
            <a:r>
              <a:rPr lang="pt-PT" sz="2500" dirty="0"/>
              <a:t>- </a:t>
            </a:r>
            <a:r>
              <a:rPr lang="pt-PT" sz="2500" dirty="0" err="1"/>
              <a:t>Tokens</a:t>
            </a:r>
            <a:r>
              <a:rPr lang="pt-PT" sz="2500" dirty="0"/>
              <a:t> = 3</a:t>
            </a:r>
          </a:p>
          <a:p>
            <a:r>
              <a:rPr lang="pt-PT" sz="2500" dirty="0"/>
              <a:t>- Score final = 2 / 3 = 0.66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00469923-B3CA-7132-309B-5D959EB7A6C6}"/>
              </a:ext>
            </a:extLst>
          </p:cNvPr>
          <p:cNvGrpSpPr/>
          <p:nvPr/>
        </p:nvGrpSpPr>
        <p:grpSpPr>
          <a:xfrm>
            <a:off x="10891268" y="4106451"/>
            <a:ext cx="5891261" cy="4691800"/>
            <a:chOff x="0" y="-47625"/>
            <a:chExt cx="1551608" cy="74083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EC587FA-6113-3FC8-0C67-CA56C40BA7D4}"/>
                </a:ext>
              </a:extLst>
            </p:cNvPr>
            <p:cNvSpPr/>
            <p:nvPr/>
          </p:nvSpPr>
          <p:spPr>
            <a:xfrm>
              <a:off x="43674" y="0"/>
              <a:ext cx="1507934" cy="693212"/>
            </a:xfrm>
            <a:custGeom>
              <a:avLst/>
              <a:gdLst/>
              <a:ahLst/>
              <a:cxnLst/>
              <a:rect l="l" t="t" r="r" b="b"/>
              <a:pathLst>
                <a:path w="1507934" h="693212">
                  <a:moveTo>
                    <a:pt x="22987" y="0"/>
                  </a:moveTo>
                  <a:lnTo>
                    <a:pt x="1484947" y="0"/>
                  </a:lnTo>
                  <a:cubicBezTo>
                    <a:pt x="1497642" y="0"/>
                    <a:pt x="1507934" y="10292"/>
                    <a:pt x="1507934" y="22987"/>
                  </a:cubicBezTo>
                  <a:lnTo>
                    <a:pt x="1507934" y="670224"/>
                  </a:lnTo>
                  <a:cubicBezTo>
                    <a:pt x="1507934" y="682920"/>
                    <a:pt x="1497642" y="693212"/>
                    <a:pt x="1484947" y="693212"/>
                  </a:cubicBezTo>
                  <a:lnTo>
                    <a:pt x="22987" y="693212"/>
                  </a:lnTo>
                  <a:cubicBezTo>
                    <a:pt x="10292" y="693212"/>
                    <a:pt x="0" y="682920"/>
                    <a:pt x="0" y="670224"/>
                  </a:cubicBezTo>
                  <a:lnTo>
                    <a:pt x="0" y="22987"/>
                  </a:lnTo>
                  <a:cubicBezTo>
                    <a:pt x="0" y="10292"/>
                    <a:pt x="10292" y="0"/>
                    <a:pt x="22987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pPr>
                <a:lnSpc>
                  <a:spcPct val="150000"/>
                </a:lnSpc>
              </a:pPr>
              <a:r>
                <a:rPr lang="pt-PT" sz="2500" dirty="0"/>
                <a:t>		</a:t>
              </a:r>
              <a:r>
                <a:rPr lang="pt-PT" sz="2500" b="1" u="sng" dirty="0"/>
                <a:t>VANTAGENS</a:t>
              </a:r>
              <a:r>
                <a:rPr lang="pt-PT" sz="2500" dirty="0"/>
                <a:t> </a:t>
              </a:r>
            </a:p>
            <a:p>
              <a:pPr marL="285750" indent="-285750">
                <a:lnSpc>
                  <a:spcPct val="150000"/>
                </a:lnSpc>
                <a:buFont typeface="Wingdings" pitchFamily="2" charset="2"/>
                <a:buChar char="ü"/>
              </a:pPr>
              <a:r>
                <a:rPr lang="pt-PT" b="1" dirty="0"/>
                <a:t>Frases com palavras frequentes = maior score</a:t>
              </a:r>
              <a:r>
                <a:rPr lang="pt-PT" dirty="0"/>
                <a:t> → Representam bem o tema;</a:t>
              </a:r>
              <a:endParaRPr lang="pt-PT" sz="2800" dirty="0"/>
            </a:p>
            <a:p>
              <a:pPr marL="285750" indent="-285750">
                <a:lnSpc>
                  <a:spcPct val="150000"/>
                </a:lnSpc>
                <a:buFont typeface="Wingdings" pitchFamily="2" charset="2"/>
                <a:buChar char="ü"/>
              </a:pPr>
              <a:r>
                <a:rPr lang="pt-PT" b="1" dirty="0"/>
                <a:t>Filtros garantem qualidade</a:t>
              </a:r>
              <a:r>
                <a:rPr lang="pt-PT" dirty="0"/>
                <a:t> → Sem lixo, sem índices, sem frases vazias, sem tabelas;</a:t>
              </a:r>
              <a:endParaRPr lang="pt-PT" sz="2800" dirty="0"/>
            </a:p>
            <a:p>
              <a:pPr marL="285750" indent="-285750">
                <a:lnSpc>
                  <a:spcPct val="150000"/>
                </a:lnSpc>
                <a:buFont typeface="Wingdings" pitchFamily="2" charset="2"/>
                <a:buChar char="ü"/>
              </a:pPr>
              <a:r>
                <a:rPr lang="pt-PT" b="1" dirty="0"/>
                <a:t>Normalização por tamanho</a:t>
              </a:r>
              <a:r>
                <a:rPr lang="pt-PT" dirty="0"/>
                <a:t> → Frases pequenas não são penalizadas.</a:t>
              </a:r>
              <a:endParaRPr lang="pt-PT" sz="2500" dirty="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F4713024-1D53-3141-A726-2D80D4FF28E2}"/>
                </a:ext>
              </a:extLst>
            </p:cNvPr>
            <p:cNvSpPr txBox="1"/>
            <p:nvPr/>
          </p:nvSpPr>
          <p:spPr>
            <a:xfrm>
              <a:off x="0" y="-47625"/>
              <a:ext cx="1507934" cy="740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82269" y="9552300"/>
            <a:ext cx="1660777" cy="1469400"/>
            <a:chOff x="0" y="0"/>
            <a:chExt cx="437406" cy="387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208027" y="9552300"/>
            <a:ext cx="489701" cy="1469400"/>
            <a:chOff x="0" y="0"/>
            <a:chExt cx="128975" cy="387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664317">
            <a:off x="5382510" y="5898976"/>
            <a:ext cx="9998100" cy="9885621"/>
          </a:xfrm>
          <a:custGeom>
            <a:avLst/>
            <a:gdLst/>
            <a:ahLst/>
            <a:cxnLst/>
            <a:rect l="l" t="t" r="r" b="b"/>
            <a:pathLst>
              <a:path w="9998100" h="9885621">
                <a:moveTo>
                  <a:pt x="0" y="0"/>
                </a:moveTo>
                <a:lnTo>
                  <a:pt x="9998099" y="0"/>
                </a:lnTo>
                <a:lnTo>
                  <a:pt x="9998099" y="9885620"/>
                </a:lnTo>
                <a:lnTo>
                  <a:pt x="0" y="9885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Box 13"/>
          <p:cNvSpPr txBox="1"/>
          <p:nvPr/>
        </p:nvSpPr>
        <p:spPr>
          <a:xfrm>
            <a:off x="2168196" y="806554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ENTIDADES ENCONTRADAS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849804" y="9597402"/>
            <a:ext cx="231242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6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94B5944-8123-0C51-4675-B9A43740C9A6}"/>
              </a:ext>
            </a:extLst>
          </p:cNvPr>
          <p:cNvSpPr txBox="1"/>
          <p:nvPr/>
        </p:nvSpPr>
        <p:spPr>
          <a:xfrm>
            <a:off x="1782269" y="3792071"/>
            <a:ext cx="13769089" cy="460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500" b="1" dirty="0" err="1"/>
              <a:t>nlp</a:t>
            </a:r>
            <a:r>
              <a:rPr lang="pt-PT" sz="2500" b="1" dirty="0"/>
              <a:t>() </a:t>
            </a:r>
            <a:r>
              <a:rPr lang="pt-PT" sz="2500" dirty="0"/>
              <a:t>= função do </a:t>
            </a:r>
            <a:r>
              <a:rPr lang="pt-PT" sz="2500" dirty="0" err="1"/>
              <a:t>spaCy</a:t>
            </a:r>
            <a:r>
              <a:rPr lang="pt-PT" sz="2500" dirty="0"/>
              <a:t> que processa o texto</a:t>
            </a:r>
          </a:p>
          <a:p>
            <a:r>
              <a:rPr lang="pt-PT" sz="2500" b="1" dirty="0" err="1"/>
              <a:t>Conteudo</a:t>
            </a:r>
            <a:r>
              <a:rPr lang="pt-PT" sz="2500" b="1" dirty="0"/>
              <a:t>[:10000]= </a:t>
            </a:r>
            <a:r>
              <a:rPr lang="pt-PT" sz="2500" dirty="0"/>
              <a:t>pega nos primeiros 10.000 caracteres (para performance)</a:t>
            </a:r>
          </a:p>
          <a:p>
            <a:r>
              <a:rPr lang="pt-PT" sz="2500" b="1" dirty="0" err="1"/>
              <a:t>Doc_completo</a:t>
            </a:r>
            <a:r>
              <a:rPr lang="pt-PT" sz="2500" b="1" dirty="0"/>
              <a:t> </a:t>
            </a:r>
            <a:r>
              <a:rPr lang="pt-PT" sz="2500" dirty="0"/>
              <a:t>= documento processado</a:t>
            </a:r>
          </a:p>
          <a:p>
            <a:endParaRPr lang="pt-PT" sz="2500" dirty="0"/>
          </a:p>
          <a:p>
            <a:r>
              <a:rPr lang="pt-PT" sz="2500" dirty="0" err="1"/>
              <a:t>Doc_completo.ents</a:t>
            </a:r>
            <a:r>
              <a:rPr lang="pt-PT" sz="2500" dirty="0"/>
              <a:t>= </a:t>
            </a:r>
            <a:r>
              <a:rPr lang="pt-PT" sz="2500" b="1" dirty="0"/>
              <a:t>todas as entidades encontradas</a:t>
            </a:r>
            <a:endParaRPr lang="pt-PT" sz="2500" dirty="0"/>
          </a:p>
          <a:p>
            <a:r>
              <a:rPr lang="pt-PT" sz="2500" dirty="0"/>
              <a:t>Para cada entidade </a:t>
            </a:r>
            <a:r>
              <a:rPr lang="pt-PT" sz="2500" b="1" dirty="0" err="1"/>
              <a:t>ent</a:t>
            </a:r>
            <a:r>
              <a:rPr lang="pt-PT" sz="2500" dirty="0"/>
              <a:t>:</a:t>
            </a:r>
          </a:p>
          <a:p>
            <a:pPr lvl="1"/>
            <a:r>
              <a:rPr lang="pt-PT" sz="2500" b="1" dirty="0"/>
              <a:t>- </a:t>
            </a:r>
            <a:r>
              <a:rPr lang="pt-PT" sz="2500" b="1" dirty="0" err="1"/>
              <a:t>Ent_text</a:t>
            </a:r>
            <a:r>
              <a:rPr lang="pt-PT" sz="2500" dirty="0"/>
              <a:t>= </a:t>
            </a:r>
            <a:r>
              <a:rPr lang="pt-PT" sz="2500" b="1" dirty="0"/>
              <a:t>o texto da entidade</a:t>
            </a:r>
            <a:r>
              <a:rPr lang="pt-PT" sz="2500" dirty="0"/>
              <a:t> (</a:t>
            </a:r>
            <a:r>
              <a:rPr lang="pt-PT" sz="2500" dirty="0" err="1"/>
              <a:t>ex</a:t>
            </a:r>
            <a:r>
              <a:rPr lang="pt-PT" sz="2500" dirty="0"/>
              <a:t>: "Harry </a:t>
            </a:r>
            <a:r>
              <a:rPr lang="pt-PT" sz="2500" dirty="0" err="1"/>
              <a:t>Potter</a:t>
            </a:r>
            <a:r>
              <a:rPr lang="pt-PT" sz="2500" dirty="0"/>
              <a:t>")</a:t>
            </a:r>
          </a:p>
          <a:p>
            <a:pPr lvl="1"/>
            <a:r>
              <a:rPr lang="pt-PT" sz="2500" b="1" dirty="0"/>
              <a:t>- </a:t>
            </a:r>
            <a:r>
              <a:rPr lang="pt-PT" sz="2500" b="1" dirty="0" err="1"/>
              <a:t>Ent.label</a:t>
            </a:r>
            <a:r>
              <a:rPr lang="pt-PT" sz="2500" b="1" dirty="0"/>
              <a:t>_= o tipo da entidade</a:t>
            </a:r>
            <a:r>
              <a:rPr lang="pt-PT" sz="2500" dirty="0"/>
              <a:t> (</a:t>
            </a:r>
            <a:r>
              <a:rPr lang="pt-PT" sz="2500" dirty="0" err="1"/>
              <a:t>ex</a:t>
            </a:r>
            <a:r>
              <a:rPr lang="pt-PT" sz="2500" dirty="0"/>
              <a:t>: "PER")</a:t>
            </a:r>
          </a:p>
          <a:p>
            <a:pPr lvl="1"/>
            <a:endParaRPr lang="pt-PT" sz="2500" dirty="0"/>
          </a:p>
          <a:p>
            <a:r>
              <a:rPr lang="pt-PT" sz="2500" dirty="0"/>
              <a:t>Resultado: </a:t>
            </a:r>
            <a:r>
              <a:rPr lang="pt-PT" sz="2500" dirty="0" err="1"/>
              <a:t>entidades_encontradas</a:t>
            </a:r>
            <a:r>
              <a:rPr lang="pt-PT" sz="2500" dirty="0"/>
              <a:t> = </a:t>
            </a:r>
            <a:r>
              <a:rPr lang="pt-PT" sz="2500" dirty="0" err="1"/>
              <a:t>tuplo</a:t>
            </a:r>
            <a:r>
              <a:rPr lang="pt-PT" sz="2500" dirty="0"/>
              <a:t> de [("Harry </a:t>
            </a:r>
            <a:r>
              <a:rPr lang="pt-PT" sz="2500" dirty="0" err="1"/>
              <a:t>Potter</a:t>
            </a:r>
            <a:r>
              <a:rPr lang="pt-PT" sz="2500" dirty="0"/>
              <a:t>", "PER"), ("Hogwarts", ”LOC"), ...]</a:t>
            </a:r>
          </a:p>
          <a:p>
            <a:endParaRPr lang="pt-PT" sz="2500" dirty="0"/>
          </a:p>
          <a:p>
            <a:endParaRPr lang="pt-PT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68196" y="806554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PRODUÇÃO DE LATEX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58548" y="9597402"/>
            <a:ext cx="213754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7</a:t>
            </a:r>
          </a:p>
        </p:txBody>
      </p:sp>
      <p:grpSp>
        <p:nvGrpSpPr>
          <p:cNvPr id="8" name="Group 8"/>
          <p:cNvGrpSpPr/>
          <p:nvPr/>
        </p:nvGrpSpPr>
        <p:grpSpPr>
          <a:xfrm rot="-10800000">
            <a:off x="1782269" y="9552300"/>
            <a:ext cx="1660777" cy="1469400"/>
            <a:chOff x="0" y="0"/>
            <a:chExt cx="437406" cy="387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1208027" y="9552300"/>
            <a:ext cx="489701" cy="1469400"/>
            <a:chOff x="0" y="0"/>
            <a:chExt cx="128975" cy="3870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1298D41-D2C5-8527-EA6A-463205DAFD85}"/>
              </a:ext>
            </a:extLst>
          </p:cNvPr>
          <p:cNvSpPr txBox="1"/>
          <p:nvPr/>
        </p:nvSpPr>
        <p:spPr>
          <a:xfrm>
            <a:off x="2513726" y="3347716"/>
            <a:ext cx="1392327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3000" b="1" dirty="0"/>
              <a:t>Escapamento de Caracteres</a:t>
            </a:r>
            <a:r>
              <a:rPr lang="pt-PT" sz="3000" dirty="0"/>
              <a:t>: A função </a:t>
            </a:r>
            <a:r>
              <a:rPr lang="pt-PT" sz="3000" dirty="0" err="1"/>
              <a:t>limpar_para_latex</a:t>
            </a:r>
            <a:r>
              <a:rPr lang="pt-PT" sz="3000" dirty="0"/>
              <a:t> identifica e ”mascara" caracteres reservados (</a:t>
            </a:r>
            <a:r>
              <a:rPr lang="pt-PT" sz="3000" dirty="0" err="1"/>
              <a:t>ex</a:t>
            </a:r>
            <a:r>
              <a:rPr lang="pt-PT" sz="3000" dirty="0"/>
              <a:t>: %, $, &amp;, _, #) que causaria erros de compilação;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3000" b="1" dirty="0"/>
              <a:t>Normalização de Nomes</a:t>
            </a:r>
            <a:r>
              <a:rPr lang="pt-PT" sz="3000" dirty="0"/>
              <a:t>: O script limpa </a:t>
            </a:r>
            <a:r>
              <a:rPr lang="pt-PT" sz="3000" dirty="0" err="1"/>
              <a:t>URLs</a:t>
            </a:r>
            <a:r>
              <a:rPr lang="pt-PT" sz="3000" dirty="0"/>
              <a:t> e nomes de ficheiros (removendo </a:t>
            </a:r>
            <a:r>
              <a:rPr lang="pt-PT" sz="3000" dirty="0" err="1"/>
              <a:t>http</a:t>
            </a:r>
            <a:r>
              <a:rPr lang="pt-PT" sz="3000" dirty="0"/>
              <a:t>://, : e /) para garantir a criação de ficheiros .</a:t>
            </a:r>
            <a:r>
              <a:rPr lang="pt-PT" sz="3000" dirty="0" err="1"/>
              <a:t>tex</a:t>
            </a:r>
            <a:r>
              <a:rPr lang="pt-PT" sz="3000" dirty="0"/>
              <a:t> válidos e simples;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3000" b="1" dirty="0"/>
              <a:t>Limpeza de Ruído Web</a:t>
            </a:r>
            <a:r>
              <a:rPr lang="pt-PT" sz="3000" dirty="0"/>
              <a:t>: Remoção de quebras de linha e espaços excessivos;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3000" b="1" dirty="0" err="1"/>
              <a:t>Abstract</a:t>
            </a:r>
            <a:r>
              <a:rPr lang="pt-PT" sz="3000" b="1" dirty="0"/>
              <a:t> Automatizado</a:t>
            </a:r>
            <a:r>
              <a:rPr lang="pt-PT" sz="3000" dirty="0"/>
              <a:t>: Injeção direta das 3 frases com maior </a:t>
            </a:r>
            <a:r>
              <a:rPr lang="pt-PT" sz="3000" i="1" dirty="0"/>
              <a:t>score</a:t>
            </a:r>
            <a:r>
              <a:rPr lang="pt-PT" sz="3000" dirty="0"/>
              <a:t> de n-</a:t>
            </a:r>
            <a:r>
              <a:rPr lang="pt-PT" sz="3000" dirty="0" err="1"/>
              <a:t>grams</a:t>
            </a:r>
            <a:r>
              <a:rPr lang="pt-PT" sz="3000" dirty="0"/>
              <a:t> no resumo do artigo;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3000" b="1" dirty="0"/>
              <a:t>Corpo do Artigo</a:t>
            </a:r>
            <a:r>
              <a:rPr lang="pt-PT" sz="3000" dirty="0"/>
              <a:t>: Mapeamento das Entidades Nomeadas (NER) e criação de tabelas para os padrões gramaticais extraídos pelo </a:t>
            </a:r>
            <a:r>
              <a:rPr lang="pt-PT" sz="3000" dirty="0" err="1"/>
              <a:t>spaCy</a:t>
            </a:r>
            <a:r>
              <a:rPr lang="pt-PT" sz="3000" dirty="0"/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3000" b="1" dirty="0"/>
              <a:t>Gestão de Referências</a:t>
            </a:r>
            <a:r>
              <a:rPr lang="pt-PT" sz="3000" dirty="0"/>
              <a:t>: Lógica condicional na bibliografia que distingue automaticamente entre fontes locais (Livros) e fontes remotas (</a:t>
            </a:r>
            <a:r>
              <a:rPr lang="pt-PT" sz="3000" dirty="0" err="1"/>
              <a:t>URLs</a:t>
            </a:r>
            <a:r>
              <a:rPr lang="pt-PT" sz="3000" dirty="0"/>
              <a:t> da Wikipédia);</a:t>
            </a:r>
          </a:p>
          <a:p>
            <a:pPr>
              <a:buNone/>
            </a:pPr>
            <a:endParaRPr lang="pt-PT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098">
                <a:alpha val="100000"/>
              </a:srgbClr>
            </a:gs>
            <a:gs pos="100000">
              <a:srgbClr val="B8625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ABA8B-00A4-C9EC-FE43-B28D0AE99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336453-3FDE-0FA0-F1C6-72D65A28CA4C}"/>
              </a:ext>
            </a:extLst>
          </p:cNvPr>
          <p:cNvSpPr/>
          <p:nvPr/>
        </p:nvSpPr>
        <p:spPr>
          <a:xfrm rot="5258930">
            <a:off x="-3499934" y="157096"/>
            <a:ext cx="6164199" cy="6094852"/>
          </a:xfrm>
          <a:custGeom>
            <a:avLst/>
            <a:gdLst/>
            <a:ahLst/>
            <a:cxnLst/>
            <a:rect l="l" t="t" r="r" b="b"/>
            <a:pathLst>
              <a:path w="6164199" h="6094852">
                <a:moveTo>
                  <a:pt x="0" y="0"/>
                </a:moveTo>
                <a:lnTo>
                  <a:pt x="6164199" y="0"/>
                </a:lnTo>
                <a:lnTo>
                  <a:pt x="6164199" y="6094852"/>
                </a:lnTo>
                <a:lnTo>
                  <a:pt x="0" y="60948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88CD2AD-881B-CB95-C397-3084AF9AD854}"/>
              </a:ext>
            </a:extLst>
          </p:cNvPr>
          <p:cNvGrpSpPr/>
          <p:nvPr/>
        </p:nvGrpSpPr>
        <p:grpSpPr>
          <a:xfrm>
            <a:off x="2587274" y="-734700"/>
            <a:ext cx="1660777" cy="1469400"/>
            <a:chOff x="0" y="0"/>
            <a:chExt cx="437406" cy="38700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A85D625-0DE1-AF9E-D005-D6BF064E8A77}"/>
                </a:ext>
              </a:extLst>
            </p:cNvPr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CD2169B-4060-AFBD-B3EF-410A18596274}"/>
                </a:ext>
              </a:extLst>
            </p:cNvPr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ED4C0C1-9B0B-39DB-26CC-FDA1A63274EC}"/>
              </a:ext>
            </a:extLst>
          </p:cNvPr>
          <p:cNvGrpSpPr/>
          <p:nvPr/>
        </p:nvGrpSpPr>
        <p:grpSpPr>
          <a:xfrm>
            <a:off x="4332592" y="-734700"/>
            <a:ext cx="489701" cy="1469400"/>
            <a:chOff x="0" y="0"/>
            <a:chExt cx="128975" cy="38700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AE15798-448D-531D-E0B3-3532754BBDAA}"/>
                </a:ext>
              </a:extLst>
            </p:cNvPr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37CC170-39F5-016A-D416-2003AEAE6BBA}"/>
                </a:ext>
              </a:extLst>
            </p:cNvPr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CB20982D-DB31-5D60-475B-4C178108858C}"/>
              </a:ext>
            </a:extLst>
          </p:cNvPr>
          <p:cNvSpPr txBox="1"/>
          <p:nvPr/>
        </p:nvSpPr>
        <p:spPr>
          <a:xfrm>
            <a:off x="2632196" y="2242489"/>
            <a:ext cx="12545731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3"/>
              </a:lnSpc>
            </a:pPr>
            <a:r>
              <a:rPr lang="en-US" sz="5898" b="1" dirty="0" err="1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Trabalho</a:t>
            </a:r>
            <a:r>
              <a:rPr lang="en-US" sz="5898" b="1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</a:t>
            </a:r>
            <a:r>
              <a:rPr lang="en-US" sz="5898" b="1" dirty="0" err="1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Prático</a:t>
            </a:r>
            <a:r>
              <a:rPr lang="en-US" sz="5898" b="1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91B771F-CAD2-F467-4B27-F84A79348665}"/>
              </a:ext>
            </a:extLst>
          </p:cNvPr>
          <p:cNvSpPr txBox="1"/>
          <p:nvPr/>
        </p:nvSpPr>
        <p:spPr>
          <a:xfrm>
            <a:off x="2632196" y="4545367"/>
            <a:ext cx="12635575" cy="117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400" b="1" dirty="0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Scripting no </a:t>
            </a:r>
            <a:r>
              <a:rPr lang="en-US" sz="4400" b="1" dirty="0" err="1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Processamento</a:t>
            </a:r>
            <a:r>
              <a:rPr lang="en-US" sz="4400" b="1" dirty="0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de </a:t>
            </a:r>
            <a:r>
              <a:rPr lang="en-US" sz="4400" b="1" dirty="0" err="1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Linguagem</a:t>
            </a:r>
            <a:r>
              <a:rPr lang="en-US" sz="4400" b="1" dirty="0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Natural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2E0A223-526D-4BDB-585C-8AE90A780050}"/>
              </a:ext>
            </a:extLst>
          </p:cNvPr>
          <p:cNvSpPr/>
          <p:nvPr/>
        </p:nvSpPr>
        <p:spPr>
          <a:xfrm rot="-3500788">
            <a:off x="9319174" y="2590520"/>
            <a:ext cx="11582610" cy="11452305"/>
          </a:xfrm>
          <a:custGeom>
            <a:avLst/>
            <a:gdLst/>
            <a:ahLst/>
            <a:cxnLst/>
            <a:rect l="l" t="t" r="r" b="b"/>
            <a:pathLst>
              <a:path w="11582610" h="11452305">
                <a:moveTo>
                  <a:pt x="0" y="0"/>
                </a:moveTo>
                <a:lnTo>
                  <a:pt x="11582610" y="0"/>
                </a:lnTo>
                <a:lnTo>
                  <a:pt x="11582610" y="11452306"/>
                </a:lnTo>
                <a:lnTo>
                  <a:pt x="0" y="11452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020AD58-D1BD-16E9-6772-B4FDEBEBC7C0}"/>
              </a:ext>
            </a:extLst>
          </p:cNvPr>
          <p:cNvSpPr/>
          <p:nvPr/>
        </p:nvSpPr>
        <p:spPr>
          <a:xfrm>
            <a:off x="15373045" y="620400"/>
            <a:ext cx="1886255" cy="1710204"/>
          </a:xfrm>
          <a:custGeom>
            <a:avLst/>
            <a:gdLst/>
            <a:ahLst/>
            <a:cxnLst/>
            <a:rect l="l" t="t" r="r" b="b"/>
            <a:pathLst>
              <a:path w="1886255" h="1710204">
                <a:moveTo>
                  <a:pt x="0" y="0"/>
                </a:moveTo>
                <a:lnTo>
                  <a:pt x="1886255" y="0"/>
                </a:lnTo>
                <a:lnTo>
                  <a:pt x="1886255" y="1710204"/>
                </a:lnTo>
                <a:lnTo>
                  <a:pt x="0" y="17102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710A1AA-AC8E-4D82-7E81-43285C3DB246}"/>
              </a:ext>
            </a:extLst>
          </p:cNvPr>
          <p:cNvSpPr txBox="1"/>
          <p:nvPr/>
        </p:nvSpPr>
        <p:spPr>
          <a:xfrm>
            <a:off x="2587274" y="6397318"/>
            <a:ext cx="5762112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 b="1" dirty="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Gonçalo Magalhães</a:t>
            </a:r>
            <a:r>
              <a:rPr lang="en-US" sz="3364" b="1" dirty="0">
                <a:solidFill>
                  <a:srgbClr val="006DA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3364" dirty="0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PG61524</a:t>
            </a:r>
          </a:p>
          <a:p>
            <a:pPr algn="l">
              <a:lnSpc>
                <a:spcPts val="3532"/>
              </a:lnSpc>
            </a:pPr>
            <a:endParaRPr lang="en-US" sz="3364" dirty="0">
              <a:solidFill>
                <a:srgbClr val="D9D9D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A08A563-0E09-B3BF-D5F1-73B4AEB2E7BA}"/>
              </a:ext>
            </a:extLst>
          </p:cNvPr>
          <p:cNvSpPr txBox="1"/>
          <p:nvPr/>
        </p:nvSpPr>
        <p:spPr>
          <a:xfrm>
            <a:off x="2587274" y="8169387"/>
            <a:ext cx="4773524" cy="332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464" dirty="0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24 de </a:t>
            </a:r>
            <a:r>
              <a:rPr lang="en-US" sz="2464" dirty="0" err="1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março</a:t>
            </a:r>
            <a:r>
              <a:rPr lang="en-US" sz="2464" dirty="0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 de 2026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D305ED66-9438-52E8-F0A1-8320CF6C5A36}"/>
              </a:ext>
            </a:extLst>
          </p:cNvPr>
          <p:cNvSpPr txBox="1"/>
          <p:nvPr/>
        </p:nvSpPr>
        <p:spPr>
          <a:xfrm>
            <a:off x="9289638" y="6423226"/>
            <a:ext cx="7338939" cy="1386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80"/>
              </a:lnSpc>
              <a:spcBef>
                <a:spcPct val="0"/>
              </a:spcBef>
            </a:pPr>
            <a:r>
              <a:rPr lang="en-US" sz="9000" b="1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511286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3874</TotalTime>
  <Words>1202</Words>
  <Application>Microsoft Macintosh PowerPoint</Application>
  <PresentationFormat>Personalizados</PresentationFormat>
  <Paragraphs>145</Paragraphs>
  <Slides>11</Slides>
  <Notes>11</Notes>
  <HiddenSlides>1</HiddenSlides>
  <MMClips>0</MMClips>
  <ScaleCrop>false</ScaleCrop>
  <HeadingPairs>
    <vt:vector size="6" baseType="variant">
      <vt:variant>
        <vt:lpstr>Tipos de letra usados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20" baseType="lpstr">
      <vt:lpstr>Proxima Nova</vt:lpstr>
      <vt:lpstr>Arial</vt:lpstr>
      <vt:lpstr>Proxima Nova Heavy</vt:lpstr>
      <vt:lpstr>Calibri</vt:lpstr>
      <vt:lpstr>Raleway Bold</vt:lpstr>
      <vt:lpstr>Proxima Nova Bold</vt:lpstr>
      <vt:lpstr>Raleway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Defesa Intermédia PEI</dc:title>
  <cp:lastModifiedBy>Gonçalo Emanuel Ferreira Magalhães</cp:lastModifiedBy>
  <cp:revision>23</cp:revision>
  <dcterms:created xsi:type="dcterms:W3CDTF">2006-08-16T00:00:00Z</dcterms:created>
  <dcterms:modified xsi:type="dcterms:W3CDTF">2026-03-24T14:54:04Z</dcterms:modified>
  <dc:identifier>DAHENkTeT2Y</dc:identifier>
</cp:coreProperties>
</file>